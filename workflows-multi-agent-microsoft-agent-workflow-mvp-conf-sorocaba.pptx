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</p:sldIdLst>
  <p:sldSz cx="9144000" cy="5143500" type="screen16x9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3"/>
  </p:normalViewPr>
  <p:slideViewPr>
    <p:cSldViewPr snapToGrid="0">
      <p:cViewPr varScale="1">
        <p:scale>
          <a:sx n="195" d="100"/>
          <a:sy n="195" d="100"/>
        </p:scale>
        <p:origin x="5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59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869CF17-DAA2-462B-B6FF-7BD0A5498D2E}"/>
              </a:ext>
            </a:extLst>
          </p:cNvPr>
          <p:cNvSpPr>
            <a:spLocks noGrp="1"/>
          </p:cNvSpPr>
          <p:nvPr/>
        </p:nvSpPr>
        <p:spPr>
          <a:xfrm>
            <a:off x="438150" y="2857500"/>
            <a:ext cx="3286125" cy="209550"/>
          </a:xfrm>
          <a:prstGeom prst="rect">
            <a:avLst/>
          </a:prstGeom>
          <a:solidFill>
            <a:srgbClr val="C7C7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ABCA2-9C55-41D7-A344-B631A3E47341}"/>
              </a:ext>
            </a:extLst>
          </p:cNvPr>
          <p:cNvSpPr>
            <a:spLocks noGrp="1"/>
          </p:cNvSpPr>
          <p:nvPr/>
        </p:nvSpPr>
        <p:spPr>
          <a:xfrm>
            <a:off x="466725" y="28575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7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12 de junho de 2026 · 15:00-15:40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E7627B-E6E7-482B-9D9F-6F8FFFEA3A0F}"/>
              </a:ext>
            </a:extLst>
          </p:cNvPr>
          <p:cNvSpPr>
            <a:spLocks noGrp="1"/>
          </p:cNvSpPr>
          <p:nvPr/>
        </p:nvSpPr>
        <p:spPr>
          <a:xfrm>
            <a:off x="466725" y="3105150"/>
            <a:ext cx="2190750" cy="23812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85725" tIns="38100" rIns="85725" bIns="28575" anchor="t"/>
          <a:lstStyle/>
          <a:p>
            <a:pPr algn="l">
              <a:defRPr sz="90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MVP CONF REGIONAL SOROCABA</a:t>
            </a:r>
          </a:p>
        </p:txBody>
      </p:sp>
    </p:spTree>
    <p:extLst>
      <p:ext uri="{BB962C8B-B14F-4D97-AF65-F5344CB8AC3E}">
        <p14:creationId xmlns:p14="http://schemas.microsoft.com/office/powerpoint/2010/main" val="620002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" y="-14395"/>
            <a:ext cx="9144000" cy="538456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388B052-403C-47F4-8796-BA5AC040DBD9}"/>
              </a:ext>
            </a:extLst>
          </p:cNvPr>
          <p:cNvSpPr>
            <a:spLocks noGrp="1"/>
          </p:cNvSpPr>
          <p:nvPr/>
        </p:nvSpPr>
        <p:spPr>
          <a:xfrm>
            <a:off x="457200" y="685800"/>
            <a:ext cx="37147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Sobre mim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AAE115-366B-4A37-94C7-C1BD3B56F218}"/>
              </a:ext>
            </a:extLst>
          </p:cNvPr>
          <p:cNvSpPr>
            <a:spLocks noGrp="1"/>
          </p:cNvSpPr>
          <p:nvPr/>
        </p:nvSpPr>
        <p:spPr>
          <a:xfrm>
            <a:off x="457200" y="139065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2BEAE4-3E19-4BD7-ABEB-3AA1E136AA8D}"/>
              </a:ext>
            </a:extLst>
          </p:cNvPr>
          <p:cNvSpPr>
            <a:spLocks noGrp="1"/>
          </p:cNvSpPr>
          <p:nvPr/>
        </p:nvSpPr>
        <p:spPr>
          <a:xfrm>
            <a:off x="4743449" y="914400"/>
            <a:ext cx="1566915" cy="1565999"/>
          </a:xfrm>
          <a:prstGeom prst="rect">
            <a:avLst/>
          </a:prstGeom>
          <a:blipFill dpi="0" rotWithShape="1">
            <a:blip r:embed="rId4"/>
            <a:srcRect/>
            <a:tile tx="0" ty="0" sx="20000" sy="20000" flip="none" algn="ctr"/>
          </a:blipFill>
          <a:ln w="28575">
            <a:solidFill>
              <a:srgbClr val="11111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D60214-B561-42D9-82E1-EF5A17E951D0}"/>
              </a:ext>
            </a:extLst>
          </p:cNvPr>
          <p:cNvSpPr>
            <a:spLocks noGrp="1"/>
          </p:cNvSpPr>
          <p:nvPr/>
        </p:nvSpPr>
        <p:spPr>
          <a:xfrm>
            <a:off x="457200" y="1619250"/>
            <a:ext cx="3905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Gustavo Bellini Bigardi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2C2192-CD02-4435-A5C1-26D91F130D2D}"/>
              </a:ext>
            </a:extLst>
          </p:cNvPr>
          <p:cNvSpPr>
            <a:spLocks noGrp="1"/>
          </p:cNvSpPr>
          <p:nvPr/>
        </p:nvSpPr>
        <p:spPr>
          <a:xfrm>
            <a:off x="457200" y="2019300"/>
            <a:ext cx="3714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CTO,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Desenvolvedor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.NET</a:t>
            </a:r>
            <a:r>
              <a:rPr lang="pt-BR"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entusiasta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de IA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aplicada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em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produtos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reais</a:t>
            </a:r>
            <a:r>
              <a:rPr lang="pt-BR"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e baterista nas horas vagas.</a:t>
            </a:r>
            <a:endParaRPr sz="1200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0DF9CC-EAB3-46BD-B94F-1795275FA998}"/>
              </a:ext>
            </a:extLst>
          </p:cNvPr>
          <p:cNvSpPr>
            <a:spLocks noGrp="1"/>
          </p:cNvSpPr>
          <p:nvPr/>
        </p:nvSpPr>
        <p:spPr>
          <a:xfrm>
            <a:off x="457200" y="2743200"/>
            <a:ext cx="17145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2CB32F-C056-49C5-970B-8A569B4B8B8C}"/>
              </a:ext>
            </a:extLst>
          </p:cNvPr>
          <p:cNvSpPr>
            <a:spLocks noGrp="1"/>
          </p:cNvSpPr>
          <p:nvPr/>
        </p:nvSpPr>
        <p:spPr>
          <a:xfrm>
            <a:off x="457200" y="2743200"/>
            <a:ext cx="76200" cy="11239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FB634B-C47E-4F51-B8C9-BE0392DEE7CA}"/>
              </a:ext>
            </a:extLst>
          </p:cNvPr>
          <p:cNvSpPr>
            <a:spLocks noGrp="1"/>
          </p:cNvSpPr>
          <p:nvPr/>
        </p:nvSpPr>
        <p:spPr>
          <a:xfrm>
            <a:off x="628650" y="2895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69D624-4788-44CE-ADBF-6E46B9372E1C}"/>
              </a:ext>
            </a:extLst>
          </p:cNvPr>
          <p:cNvSpPr>
            <a:spLocks noGrp="1"/>
          </p:cNvSpPr>
          <p:nvPr/>
        </p:nvSpPr>
        <p:spPr>
          <a:xfrm>
            <a:off x="628650" y="3181350"/>
            <a:ext cx="14097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.NET · C# · Blazor</a:t>
            </a:r>
          </a:p>
          <a:p>
            <a:pPr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BR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Node · React</a:t>
            </a:r>
          </a:p>
          <a:p>
            <a:pPr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Azure</a:t>
            </a:r>
          </a:p>
          <a:p>
            <a:pPr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975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F01C16-3E85-42B7-81CA-CB0ADBF2313F}"/>
              </a:ext>
            </a:extLst>
          </p:cNvPr>
          <p:cNvSpPr>
            <a:spLocks noGrp="1"/>
          </p:cNvSpPr>
          <p:nvPr/>
        </p:nvSpPr>
        <p:spPr>
          <a:xfrm>
            <a:off x="2362200" y="2743200"/>
            <a:ext cx="17145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4CFBFC-2287-4BC9-A9A3-BDF95C754727}"/>
              </a:ext>
            </a:extLst>
          </p:cNvPr>
          <p:cNvSpPr>
            <a:spLocks noGrp="1"/>
          </p:cNvSpPr>
          <p:nvPr/>
        </p:nvSpPr>
        <p:spPr>
          <a:xfrm>
            <a:off x="2362200" y="2743200"/>
            <a:ext cx="76200" cy="11239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0AD611-262D-488F-A12B-DF052C9B7464}"/>
              </a:ext>
            </a:extLst>
          </p:cNvPr>
          <p:cNvSpPr>
            <a:spLocks noGrp="1"/>
          </p:cNvSpPr>
          <p:nvPr/>
        </p:nvSpPr>
        <p:spPr>
          <a:xfrm>
            <a:off x="2533650" y="2895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2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Role</a:t>
            </a:r>
            <a:endParaRPr sz="1200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212321-0A60-4991-8219-F11C42178978}"/>
              </a:ext>
            </a:extLst>
          </p:cNvPr>
          <p:cNvSpPr>
            <a:spLocks noGrp="1"/>
          </p:cNvSpPr>
          <p:nvPr/>
        </p:nvSpPr>
        <p:spPr>
          <a:xfrm>
            <a:off x="2533650" y="3181350"/>
            <a:ext cx="14097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Trabalho como Consultor e CTO na </a:t>
            </a:r>
            <a:r>
              <a:rPr lang="pt-BR" sz="975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Clarus</a:t>
            </a: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IT</a:t>
            </a:r>
          </a:p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Jundiaí - SP</a:t>
            </a:r>
            <a:endParaRPr sz="975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85C926B-338C-4D01-866E-931838CDA05A}"/>
              </a:ext>
            </a:extLst>
          </p:cNvPr>
          <p:cNvSpPr>
            <a:spLocks noGrp="1"/>
          </p:cNvSpPr>
          <p:nvPr/>
        </p:nvSpPr>
        <p:spPr>
          <a:xfrm>
            <a:off x="457199" y="742950"/>
            <a:ext cx="7171509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Workflows com Microsoft Agent Workflow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C28520-A74A-4682-AD43-96D040262FD1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24D692-D482-447F-9E53-DBFBA6FAA68F}"/>
              </a:ext>
            </a:extLst>
          </p:cNvPr>
          <p:cNvSpPr>
            <a:spLocks noGrp="1"/>
          </p:cNvSpPr>
          <p:nvPr/>
        </p:nvSpPr>
        <p:spPr>
          <a:xfrm>
            <a:off x="457200" y="1790700"/>
            <a:ext cx="7239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Quando um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sozinho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vira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gargalo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o workflow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vira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o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contrato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: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ele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define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ordem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responsabilidade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e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observabilidade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para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vários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agentes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colaborarem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7655E0-ABCE-416A-B11A-5591F01149E3}"/>
              </a:ext>
            </a:extLst>
          </p:cNvPr>
          <p:cNvSpPr>
            <a:spLocks noGrp="1"/>
          </p:cNvSpPr>
          <p:nvPr/>
        </p:nvSpPr>
        <p:spPr>
          <a:xfrm>
            <a:off x="457200" y="3000375"/>
            <a:ext cx="22669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64D5D-8420-4A26-B11B-253A707B1E69}"/>
              </a:ext>
            </a:extLst>
          </p:cNvPr>
          <p:cNvSpPr>
            <a:spLocks noGrp="1"/>
          </p:cNvSpPr>
          <p:nvPr/>
        </p:nvSpPr>
        <p:spPr>
          <a:xfrm>
            <a:off x="457200" y="3000375"/>
            <a:ext cx="76200" cy="9525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5E98E0-D604-40FE-B4E6-B60D0AD43D57}"/>
              </a:ext>
            </a:extLst>
          </p:cNvPr>
          <p:cNvSpPr>
            <a:spLocks noGrp="1"/>
          </p:cNvSpPr>
          <p:nvPr/>
        </p:nvSpPr>
        <p:spPr>
          <a:xfrm>
            <a:off x="628650" y="3152775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96E217-9DE8-4912-A23C-4A43D3FEF310}"/>
              </a:ext>
            </a:extLst>
          </p:cNvPr>
          <p:cNvSpPr>
            <a:spLocks noGrp="1"/>
          </p:cNvSpPr>
          <p:nvPr/>
        </p:nvSpPr>
        <p:spPr>
          <a:xfrm>
            <a:off x="628650" y="3438525"/>
            <a:ext cx="19621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Especialistas que raciocinam, usam ferramentas e produzem decisões intermediárias.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B748DF-273B-4EAC-8613-64A158B4D55A}"/>
              </a:ext>
            </a:extLst>
          </p:cNvPr>
          <p:cNvSpPr>
            <a:spLocks noGrp="1"/>
          </p:cNvSpPr>
          <p:nvPr/>
        </p:nvSpPr>
        <p:spPr>
          <a:xfrm>
            <a:off x="3048000" y="3000375"/>
            <a:ext cx="22669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F5C8C8-B998-4489-BBBE-EC7FADE603E0}"/>
              </a:ext>
            </a:extLst>
          </p:cNvPr>
          <p:cNvSpPr>
            <a:spLocks noGrp="1"/>
          </p:cNvSpPr>
          <p:nvPr/>
        </p:nvSpPr>
        <p:spPr>
          <a:xfrm>
            <a:off x="3048000" y="3000375"/>
            <a:ext cx="76200" cy="9525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5B38FA-AEC7-4A15-AACB-B3A92862E04D}"/>
              </a:ext>
            </a:extLst>
          </p:cNvPr>
          <p:cNvSpPr>
            <a:spLocks noGrp="1"/>
          </p:cNvSpPr>
          <p:nvPr/>
        </p:nvSpPr>
        <p:spPr>
          <a:xfrm>
            <a:off x="3219450" y="3152775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770F94-7484-42B0-BD2C-6D8E22B8ED60}"/>
              </a:ext>
            </a:extLst>
          </p:cNvPr>
          <p:cNvSpPr>
            <a:spLocks noGrp="1"/>
          </p:cNvSpPr>
          <p:nvPr/>
        </p:nvSpPr>
        <p:spPr>
          <a:xfrm>
            <a:off x="3219450" y="3438525"/>
            <a:ext cx="19621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malha que coordena execução, mensagens, estado e pontos de controle.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12F537-45E8-419F-96F9-F69042137883}"/>
              </a:ext>
            </a:extLst>
          </p:cNvPr>
          <p:cNvSpPr>
            <a:spLocks noGrp="1"/>
          </p:cNvSpPr>
          <p:nvPr/>
        </p:nvSpPr>
        <p:spPr>
          <a:xfrm>
            <a:off x="5638800" y="3000375"/>
            <a:ext cx="22669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443E1C-7765-4CA7-9041-D7D182CDD392}"/>
              </a:ext>
            </a:extLst>
          </p:cNvPr>
          <p:cNvSpPr>
            <a:spLocks noGrp="1"/>
          </p:cNvSpPr>
          <p:nvPr/>
        </p:nvSpPr>
        <p:spPr>
          <a:xfrm>
            <a:off x="5638800" y="3000375"/>
            <a:ext cx="76200" cy="9525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F8096C-3930-4556-9EEF-73287120D282}"/>
              </a:ext>
            </a:extLst>
          </p:cNvPr>
          <p:cNvSpPr>
            <a:spLocks noGrp="1"/>
          </p:cNvSpPr>
          <p:nvPr/>
        </p:nvSpPr>
        <p:spPr>
          <a:xfrm>
            <a:off x="5810250" y="3152775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Experiência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6B0E32-00DF-428D-8C2F-54702747DBFF}"/>
              </a:ext>
            </a:extLst>
          </p:cNvPr>
          <p:cNvSpPr>
            <a:spLocks noGrp="1"/>
          </p:cNvSpPr>
          <p:nvPr/>
        </p:nvSpPr>
        <p:spPr>
          <a:xfrm>
            <a:off x="5810250" y="3438525"/>
            <a:ext cx="19621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Blazor expõe progresso, revisão humana e resultado final de forma previsível.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D0C1E9A-CEBF-4AE2-90AE-3174704EE281}"/>
              </a:ext>
            </a:extLst>
          </p:cNvPr>
          <p:cNvSpPr>
            <a:spLocks noGrp="1"/>
          </p:cNvSpPr>
          <p:nvPr/>
        </p:nvSpPr>
        <p:spPr>
          <a:xfrm>
            <a:off x="457199" y="666750"/>
            <a:ext cx="4767943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problema</a:t>
            </a:r>
            <a:r>
              <a:rPr lang="pt-BR"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(sempre tem um)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9566FB-71C1-4C1C-83CC-410F0DF576F4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E1EE00-828B-45BF-825B-361DD2095935}"/>
              </a:ext>
            </a:extLst>
          </p:cNvPr>
          <p:cNvSpPr>
            <a:spLocks noGrp="1"/>
          </p:cNvSpPr>
          <p:nvPr/>
        </p:nvSpPr>
        <p:spPr>
          <a:xfrm>
            <a:off x="457200" y="1619250"/>
            <a:ext cx="5381625" cy="428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Colocar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IA no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caminho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crítico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sem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perder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77D2A6-99AD-49DF-B901-33318C99A1C6}"/>
              </a:ext>
            </a:extLst>
          </p:cNvPr>
          <p:cNvSpPr>
            <a:spLocks noGrp="1"/>
          </p:cNvSpPr>
          <p:nvPr/>
        </p:nvSpPr>
        <p:spPr>
          <a:xfrm>
            <a:off x="457200" y="23616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DF1AF5-9A25-4965-BD0E-4AE72B08E2E4}"/>
              </a:ext>
            </a:extLst>
          </p:cNvPr>
          <p:cNvSpPr>
            <a:spLocks noGrp="1"/>
          </p:cNvSpPr>
          <p:nvPr/>
        </p:nvSpPr>
        <p:spPr>
          <a:xfrm>
            <a:off x="742950" y="23336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Caixa-preta: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não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sei qual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etapa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falhou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nem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por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quê</a:t>
            </a:r>
            <a:endParaRPr sz="1200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85587C-EB28-4F39-B885-A78314565E76}"/>
              </a:ext>
            </a:extLst>
          </p:cNvPr>
          <p:cNvSpPr>
            <a:spLocks noGrp="1"/>
          </p:cNvSpPr>
          <p:nvPr/>
        </p:nvSpPr>
        <p:spPr>
          <a:xfrm>
            <a:off x="457200" y="28569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04ABE0-22CA-44FF-912D-5D27FDC3AB07}"/>
              </a:ext>
            </a:extLst>
          </p:cNvPr>
          <p:cNvSpPr>
            <a:spLocks noGrp="1"/>
          </p:cNvSpPr>
          <p:nvPr/>
        </p:nvSpPr>
        <p:spPr>
          <a:xfrm>
            <a:off x="742950" y="28289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Acoplamento: um prompt gigante tenta fazer o trabalho de um 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744B56-CCF9-4420-9609-EC812E1DB989}"/>
              </a:ext>
            </a:extLst>
          </p:cNvPr>
          <p:cNvSpPr>
            <a:spLocks noGrp="1"/>
          </p:cNvSpPr>
          <p:nvPr/>
        </p:nvSpPr>
        <p:spPr>
          <a:xfrm>
            <a:off x="457200" y="33522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9009C3-8A18-48B7-9B28-3E69E34074FB}"/>
              </a:ext>
            </a:extLst>
          </p:cNvPr>
          <p:cNvSpPr>
            <a:spLocks noGrp="1"/>
          </p:cNvSpPr>
          <p:nvPr/>
        </p:nvSpPr>
        <p:spPr>
          <a:xfrm>
            <a:off x="742950" y="33242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Retrabalho: cada feature recria logging, estado e retry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66829C-754E-4572-8F53-3792894D18E6}"/>
              </a:ext>
            </a:extLst>
          </p:cNvPr>
          <p:cNvSpPr>
            <a:spLocks noGrp="1"/>
          </p:cNvSpPr>
          <p:nvPr/>
        </p:nvSpPr>
        <p:spPr>
          <a:xfrm>
            <a:off x="457200" y="38475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EF790B-EA64-44F6-AA9D-3C48E700807E}"/>
              </a:ext>
            </a:extLst>
          </p:cNvPr>
          <p:cNvSpPr>
            <a:spLocks noGrp="1"/>
          </p:cNvSpPr>
          <p:nvPr/>
        </p:nvSpPr>
        <p:spPr>
          <a:xfrm>
            <a:off x="742950" y="38195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UX frágil: o usuário só vê 'pensando...' até o fim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D843B2-5C80-4AAB-94CF-1565B024406A}"/>
              </a:ext>
            </a:extLst>
          </p:cNvPr>
          <p:cNvSpPr>
            <a:spLocks noGrp="1"/>
          </p:cNvSpPr>
          <p:nvPr/>
        </p:nvSpPr>
        <p:spPr>
          <a:xfrm>
            <a:off x="5838825" y="3324225"/>
            <a:ext cx="1877786" cy="695325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 é uma resposta de engenharia: separa intenção, etapas, agentes e telemetria.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79E2F31-1B54-40FB-A643-3339197E2ED9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438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 ou workflow?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B88CC3-B57D-4A3D-A2DF-F35322FB3A48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0B24A0-571D-46D8-ACB1-F036DE9DBC66}"/>
              </a:ext>
            </a:extLst>
          </p:cNvPr>
          <p:cNvSpPr>
            <a:spLocks noGrp="1"/>
          </p:cNvSpPr>
          <p:nvPr/>
        </p:nvSpPr>
        <p:spPr>
          <a:xfrm>
            <a:off x="523875" y="1619250"/>
            <a:ext cx="3429000" cy="1809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F11652-C276-49EF-B934-A52E425E8D18}"/>
              </a:ext>
            </a:extLst>
          </p:cNvPr>
          <p:cNvSpPr>
            <a:spLocks noGrp="1"/>
          </p:cNvSpPr>
          <p:nvPr/>
        </p:nvSpPr>
        <p:spPr>
          <a:xfrm>
            <a:off x="523875" y="1619250"/>
            <a:ext cx="76200" cy="18097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DEE9A1-44C3-4704-90DA-CC8092E57B56}"/>
              </a:ext>
            </a:extLst>
          </p:cNvPr>
          <p:cNvSpPr>
            <a:spLocks noGrp="1"/>
          </p:cNvSpPr>
          <p:nvPr/>
        </p:nvSpPr>
        <p:spPr>
          <a:xfrm>
            <a:off x="695325" y="1771650"/>
            <a:ext cx="3143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agente quando...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1782CC-98A8-4865-86FD-2B2110BD4597}"/>
              </a:ext>
            </a:extLst>
          </p:cNvPr>
          <p:cNvSpPr>
            <a:spLocks noGrp="1"/>
          </p:cNvSpPr>
          <p:nvPr/>
        </p:nvSpPr>
        <p:spPr>
          <a:xfrm>
            <a:off x="695325" y="2057400"/>
            <a:ext cx="3124200" cy="1276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tarefa é aberta, conversacional ou exploratória.</a:t>
            </a:r>
          </a:p>
          <a:p>
            <a:endParaRPr sz="975" b="0">
              <a:solidFill>
                <a:srgbClr val="111111"/>
              </a:solidFill>
              <a:latin typeface="Arial"/>
              <a:ea typeface="Arial"/>
              <a:cs typeface="Arial"/>
            </a:endParaRPr>
          </a:p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modelo pode planejar, chamar ferramentas e responder com autonomia controlada.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070327-F31F-4D93-A78E-317A86CE6137}"/>
              </a:ext>
            </a:extLst>
          </p:cNvPr>
          <p:cNvSpPr>
            <a:spLocks noGrp="1"/>
          </p:cNvSpPr>
          <p:nvPr/>
        </p:nvSpPr>
        <p:spPr>
          <a:xfrm>
            <a:off x="4476750" y="1619250"/>
            <a:ext cx="3429000" cy="1809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9BA136-0EBA-4904-809D-70045AC39D90}"/>
              </a:ext>
            </a:extLst>
          </p:cNvPr>
          <p:cNvSpPr>
            <a:spLocks noGrp="1"/>
          </p:cNvSpPr>
          <p:nvPr/>
        </p:nvSpPr>
        <p:spPr>
          <a:xfrm>
            <a:off x="4476750" y="1619250"/>
            <a:ext cx="76200" cy="1809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EEFFFE-DB2E-46DD-BF7F-315472653024}"/>
              </a:ext>
            </a:extLst>
          </p:cNvPr>
          <p:cNvSpPr>
            <a:spLocks noGrp="1"/>
          </p:cNvSpPr>
          <p:nvPr/>
        </p:nvSpPr>
        <p:spPr>
          <a:xfrm>
            <a:off x="4648200" y="1771650"/>
            <a:ext cx="3143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workflow quando...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6F56FA-1CF1-40E2-8443-E3A2BB3EA120}"/>
              </a:ext>
            </a:extLst>
          </p:cNvPr>
          <p:cNvSpPr>
            <a:spLocks noGrp="1"/>
          </p:cNvSpPr>
          <p:nvPr/>
        </p:nvSpPr>
        <p:spPr>
          <a:xfrm>
            <a:off x="4648200" y="2057400"/>
            <a:ext cx="3124200" cy="1276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processo tem etapas definidas, precisa de ordem explícita ou vários agentes/funções precisam coordenar.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42E8F8-ACAB-4FBA-A80F-8A345A01789F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7048500" cy="428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Regra de bolso: se você consegue desenhar as etapas no quadro, provavelmente existe um workflow querendo nascer.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A3F6C73-C438-4BD1-8AFE-362506949808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143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 que entra no pacote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F84550-FD65-47A6-8EBC-C86DB072B6A6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C78C23-5BA8-464E-AA13-BD6473596692}"/>
              </a:ext>
            </a:extLst>
          </p:cNvPr>
          <p:cNvSpPr>
            <a:spLocks noGrp="1"/>
          </p:cNvSpPr>
          <p:nvPr/>
        </p:nvSpPr>
        <p:spPr>
          <a:xfrm>
            <a:off x="514350" y="1571625"/>
            <a:ext cx="933450" cy="4000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50B730-1EE6-4AF4-8B5D-D3A9FED7E521}"/>
              </a:ext>
            </a:extLst>
          </p:cNvPr>
          <p:cNvSpPr>
            <a:spLocks noGrp="1"/>
          </p:cNvSpPr>
          <p:nvPr/>
        </p:nvSpPr>
        <p:spPr>
          <a:xfrm>
            <a:off x="514350" y="167095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7CC31-5CE0-465D-8CD4-C66C3D38FEE4}"/>
              </a:ext>
            </a:extLst>
          </p:cNvPr>
          <p:cNvSpPr>
            <a:spLocks noGrp="1"/>
          </p:cNvSpPr>
          <p:nvPr/>
        </p:nvSpPr>
        <p:spPr>
          <a:xfrm>
            <a:off x="1666875" y="155257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SDK/runtime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F769D0-7031-448A-9EE2-95909BBB763C}"/>
              </a:ext>
            </a:extLst>
          </p:cNvPr>
          <p:cNvSpPr>
            <a:spLocks noGrp="1"/>
          </p:cNvSpPr>
          <p:nvPr/>
        </p:nvSpPr>
        <p:spPr>
          <a:xfrm>
            <a:off x="1666875" y="183832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Modelo comum para .NET e Python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654615-986E-48A5-9D63-922B0425C9C8}"/>
              </a:ext>
            </a:extLst>
          </p:cNvPr>
          <p:cNvSpPr>
            <a:spLocks noGrp="1"/>
          </p:cNvSpPr>
          <p:nvPr/>
        </p:nvSpPr>
        <p:spPr>
          <a:xfrm>
            <a:off x="514350" y="2238375"/>
            <a:ext cx="933450" cy="4000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AE3A96-DCA7-4D2F-A2BF-16C014DEDEED}"/>
              </a:ext>
            </a:extLst>
          </p:cNvPr>
          <p:cNvSpPr>
            <a:spLocks noGrp="1"/>
          </p:cNvSpPr>
          <p:nvPr/>
        </p:nvSpPr>
        <p:spPr>
          <a:xfrm>
            <a:off x="514350" y="233770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051CD1-58C7-4ACA-90FD-85B8E3EAB73F}"/>
              </a:ext>
            </a:extLst>
          </p:cNvPr>
          <p:cNvSpPr>
            <a:spLocks noGrp="1"/>
          </p:cNvSpPr>
          <p:nvPr/>
        </p:nvSpPr>
        <p:spPr>
          <a:xfrm>
            <a:off x="1666875" y="221932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5BC4A2-9C46-4EA2-99E1-36A749538620}"/>
              </a:ext>
            </a:extLst>
          </p:cNvPr>
          <p:cNvSpPr>
            <a:spLocks noGrp="1"/>
          </p:cNvSpPr>
          <p:nvPr/>
        </p:nvSpPr>
        <p:spPr>
          <a:xfrm>
            <a:off x="1666875" y="250507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Instruções, ferramentas, provedores e memória/contexto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CE3BC1-B880-470B-AFE2-B4F27C013B32}"/>
              </a:ext>
            </a:extLst>
          </p:cNvPr>
          <p:cNvSpPr>
            <a:spLocks noGrp="1"/>
          </p:cNvSpPr>
          <p:nvPr/>
        </p:nvSpPr>
        <p:spPr>
          <a:xfrm>
            <a:off x="514350" y="2905125"/>
            <a:ext cx="933450" cy="4000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8231CB-F547-43B8-946B-33B772AD9E09}"/>
              </a:ext>
            </a:extLst>
          </p:cNvPr>
          <p:cNvSpPr>
            <a:spLocks noGrp="1"/>
          </p:cNvSpPr>
          <p:nvPr/>
        </p:nvSpPr>
        <p:spPr>
          <a:xfrm>
            <a:off x="514350" y="300445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537AB1-2F5A-4CAA-A89D-BD5BF8E31033}"/>
              </a:ext>
            </a:extLst>
          </p:cNvPr>
          <p:cNvSpPr>
            <a:spLocks noGrp="1"/>
          </p:cNvSpPr>
          <p:nvPr/>
        </p:nvSpPr>
        <p:spPr>
          <a:xfrm>
            <a:off x="1666875" y="288607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36ED1C-F2D1-41AD-89C6-567BE78BD811}"/>
              </a:ext>
            </a:extLst>
          </p:cNvPr>
          <p:cNvSpPr>
            <a:spLocks noGrp="1"/>
          </p:cNvSpPr>
          <p:nvPr/>
        </p:nvSpPr>
        <p:spPr>
          <a:xfrm>
            <a:off x="1666875" y="317182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Executors, edges, eventos, estado e checkpoints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CF5F7B-8993-40CA-84B6-1622CCA26865}"/>
              </a:ext>
            </a:extLst>
          </p:cNvPr>
          <p:cNvSpPr>
            <a:spLocks noGrp="1"/>
          </p:cNvSpPr>
          <p:nvPr/>
        </p:nvSpPr>
        <p:spPr>
          <a:xfrm>
            <a:off x="514350" y="3571875"/>
            <a:ext cx="933450" cy="4000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527036-F274-4A5D-A376-6DC82EB40017}"/>
              </a:ext>
            </a:extLst>
          </p:cNvPr>
          <p:cNvSpPr>
            <a:spLocks noGrp="1"/>
          </p:cNvSpPr>
          <p:nvPr/>
        </p:nvSpPr>
        <p:spPr>
          <a:xfrm>
            <a:off x="514350" y="367120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21A8D9-729A-46A7-A2F0-E4B326A7E501}"/>
              </a:ext>
            </a:extLst>
          </p:cNvPr>
          <p:cNvSpPr>
            <a:spLocks noGrp="1"/>
          </p:cNvSpPr>
          <p:nvPr/>
        </p:nvSpPr>
        <p:spPr>
          <a:xfrm>
            <a:off x="1666875" y="355282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6AA500-ECDB-4D5B-B9DF-6D6BCA148C64}"/>
              </a:ext>
            </a:extLst>
          </p:cNvPr>
          <p:cNvSpPr>
            <a:spLocks noGrp="1"/>
          </p:cNvSpPr>
          <p:nvPr/>
        </p:nvSpPr>
        <p:spPr>
          <a:xfrm>
            <a:off x="1666875" y="383857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MCP, OpenAPI, Foundry/Azure e aplicações .NET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C616C1-C84F-46ED-99C2-24CFAFF99DAB}"/>
              </a:ext>
            </a:extLst>
          </p:cNvPr>
          <p:cNvSpPr>
            <a:spLocks noGrp="1"/>
          </p:cNvSpPr>
          <p:nvPr/>
        </p:nvSpPr>
        <p:spPr>
          <a:xfrm>
            <a:off x="514350" y="4192768"/>
            <a:ext cx="5429250" cy="419100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ganho não é 'mais agentes'. É programação explícita para colaboração entre agentes.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C7F7FD5-05DB-4FA8-BD1A-799C13631358}"/>
              </a:ext>
            </a:extLst>
          </p:cNvPr>
          <p:cNvSpPr>
            <a:spLocks noGrp="1"/>
          </p:cNvSpPr>
          <p:nvPr/>
        </p:nvSpPr>
        <p:spPr>
          <a:xfrm>
            <a:off x="457200" y="5524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 é um grafo de decisões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043FD4-28D5-4F53-921B-E9A2FF725FFA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8094A-DA8A-403F-83F6-3E8AD6838BCF}"/>
              </a:ext>
            </a:extLst>
          </p:cNvPr>
          <p:cNvSpPr>
            <a:spLocks noGrp="1"/>
          </p:cNvSpPr>
          <p:nvPr/>
        </p:nvSpPr>
        <p:spPr>
          <a:xfrm>
            <a:off x="590550" y="2095500"/>
            <a:ext cx="1028700" cy="628650"/>
          </a:xfrm>
          <a:prstGeom prst="rect">
            <a:avLst/>
          </a:prstGeom>
          <a:solidFill>
            <a:srgbClr val="ECECEC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66F14B-7448-441D-9B73-C81C32EF7077}"/>
              </a:ext>
            </a:extLst>
          </p:cNvPr>
          <p:cNvSpPr>
            <a:spLocks noGrp="1"/>
          </p:cNvSpPr>
          <p:nvPr/>
        </p:nvSpPr>
        <p:spPr>
          <a:xfrm>
            <a:off x="666750" y="2168163"/>
            <a:ext cx="8763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Entrada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usuário</a:t>
            </a: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/UI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A4CF38-B49E-4E7E-B130-23652F7B0974}"/>
              </a:ext>
            </a:extLst>
          </p:cNvPr>
          <p:cNvSpPr>
            <a:spLocks noGrp="1"/>
          </p:cNvSpPr>
          <p:nvPr/>
        </p:nvSpPr>
        <p:spPr>
          <a:xfrm>
            <a:off x="1619250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F1F6BF-649F-469A-8649-B58BC8B02AEC}"/>
              </a:ext>
            </a:extLst>
          </p:cNvPr>
          <p:cNvSpPr>
            <a:spLocks noGrp="1"/>
          </p:cNvSpPr>
          <p:nvPr/>
        </p:nvSpPr>
        <p:spPr>
          <a:xfrm>
            <a:off x="2019300" y="2095500"/>
            <a:ext cx="1000125" cy="628650"/>
          </a:xfrm>
          <a:prstGeom prst="rect">
            <a:avLst/>
          </a:prstGeom>
          <a:solidFill>
            <a:srgbClr val="08B8C8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642478-B040-4C0C-82E7-3829CB80A778}"/>
              </a:ext>
            </a:extLst>
          </p:cNvPr>
          <p:cNvSpPr>
            <a:spLocks noGrp="1"/>
          </p:cNvSpPr>
          <p:nvPr/>
        </p:nvSpPr>
        <p:spPr>
          <a:xfrm>
            <a:off x="2095500" y="2168163"/>
            <a:ext cx="847725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E66D60-F5BD-414B-AE52-06B42436A9BC}"/>
              </a:ext>
            </a:extLst>
          </p:cNvPr>
          <p:cNvSpPr>
            <a:spLocks noGrp="1"/>
          </p:cNvSpPr>
          <p:nvPr/>
        </p:nvSpPr>
        <p:spPr>
          <a:xfrm>
            <a:off x="3019425" y="2400300"/>
            <a:ext cx="3619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DCE9A8-BB65-438A-B16B-2E985133C946}"/>
              </a:ext>
            </a:extLst>
          </p:cNvPr>
          <p:cNvSpPr>
            <a:spLocks noGrp="1"/>
          </p:cNvSpPr>
          <p:nvPr/>
        </p:nvSpPr>
        <p:spPr>
          <a:xfrm>
            <a:off x="3381375" y="1352550"/>
            <a:ext cx="1143000" cy="6286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F503CA-31AE-4BED-868E-2AF3FA7C9BE2}"/>
              </a:ext>
            </a:extLst>
          </p:cNvPr>
          <p:cNvSpPr>
            <a:spLocks noGrp="1"/>
          </p:cNvSpPr>
          <p:nvPr/>
        </p:nvSpPr>
        <p:spPr>
          <a:xfrm>
            <a:off x="3457575" y="142521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Planner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08E17A-7A56-4161-9031-C7061E3DCE3A}"/>
              </a:ext>
            </a:extLst>
          </p:cNvPr>
          <p:cNvSpPr>
            <a:spLocks noGrp="1"/>
          </p:cNvSpPr>
          <p:nvPr/>
        </p:nvSpPr>
        <p:spPr>
          <a:xfrm>
            <a:off x="3381375" y="2095500"/>
            <a:ext cx="1143000" cy="6286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B5AB66-130B-49CF-8297-430EB0B8B26A}"/>
              </a:ext>
            </a:extLst>
          </p:cNvPr>
          <p:cNvSpPr>
            <a:spLocks noGrp="1"/>
          </p:cNvSpPr>
          <p:nvPr/>
        </p:nvSpPr>
        <p:spPr>
          <a:xfrm>
            <a:off x="3457575" y="216816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C379E0-48FC-4D6C-B4FA-CCC63DBD9BCD}"/>
              </a:ext>
            </a:extLst>
          </p:cNvPr>
          <p:cNvSpPr>
            <a:spLocks noGrp="1"/>
          </p:cNvSpPr>
          <p:nvPr/>
        </p:nvSpPr>
        <p:spPr>
          <a:xfrm>
            <a:off x="3381375" y="2838450"/>
            <a:ext cx="1143000" cy="6286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DA9970-284B-4E8F-998A-BD5DBBB9419D}"/>
              </a:ext>
            </a:extLst>
          </p:cNvPr>
          <p:cNvSpPr>
            <a:spLocks noGrp="1"/>
          </p:cNvSpPr>
          <p:nvPr/>
        </p:nvSpPr>
        <p:spPr>
          <a:xfrm>
            <a:off x="3457575" y="291111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Executor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Function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8CF8A2-DBCC-4D50-85D5-0E96EC50066A}"/>
              </a:ext>
            </a:extLst>
          </p:cNvPr>
          <p:cNvSpPr>
            <a:spLocks noGrp="1"/>
          </p:cNvSpPr>
          <p:nvPr/>
        </p:nvSpPr>
        <p:spPr>
          <a:xfrm>
            <a:off x="4524375" y="165735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982225-9AEC-4734-AAEE-2408B1911E98}"/>
              </a:ext>
            </a:extLst>
          </p:cNvPr>
          <p:cNvSpPr>
            <a:spLocks noGrp="1"/>
          </p:cNvSpPr>
          <p:nvPr/>
        </p:nvSpPr>
        <p:spPr>
          <a:xfrm>
            <a:off x="4524375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D36166-621D-4426-BDD8-78BF44702EEB}"/>
              </a:ext>
            </a:extLst>
          </p:cNvPr>
          <p:cNvSpPr>
            <a:spLocks noGrp="1"/>
          </p:cNvSpPr>
          <p:nvPr/>
        </p:nvSpPr>
        <p:spPr>
          <a:xfrm>
            <a:off x="4524375" y="314325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E323B9-F208-429D-B10A-0103E07A52F4}"/>
              </a:ext>
            </a:extLst>
          </p:cNvPr>
          <p:cNvSpPr>
            <a:spLocks noGrp="1"/>
          </p:cNvSpPr>
          <p:nvPr/>
        </p:nvSpPr>
        <p:spPr>
          <a:xfrm>
            <a:off x="4914900" y="1657350"/>
            <a:ext cx="28575" cy="15049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D4F7F51-B29B-450D-9D2D-49A0940A8CD7}"/>
              </a:ext>
            </a:extLst>
          </p:cNvPr>
          <p:cNvSpPr>
            <a:spLocks noGrp="1"/>
          </p:cNvSpPr>
          <p:nvPr/>
        </p:nvSpPr>
        <p:spPr>
          <a:xfrm>
            <a:off x="4943475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8611747-83B4-41EA-A69D-2699F998A6A3}"/>
              </a:ext>
            </a:extLst>
          </p:cNvPr>
          <p:cNvSpPr>
            <a:spLocks noGrp="1"/>
          </p:cNvSpPr>
          <p:nvPr/>
        </p:nvSpPr>
        <p:spPr>
          <a:xfrm>
            <a:off x="5343525" y="2095500"/>
            <a:ext cx="1200150" cy="62865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328CD7-8E78-44A0-AACB-87A4A9563470}"/>
              </a:ext>
            </a:extLst>
          </p:cNvPr>
          <p:cNvSpPr>
            <a:spLocks noGrp="1"/>
          </p:cNvSpPr>
          <p:nvPr/>
        </p:nvSpPr>
        <p:spPr>
          <a:xfrm>
            <a:off x="5419725" y="2168163"/>
            <a:ext cx="1047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Reviewer</a:t>
            </a:r>
          </a:p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B1E4C7A-C74D-4610-8447-30481DB61179}"/>
              </a:ext>
            </a:extLst>
          </p:cNvPr>
          <p:cNvSpPr>
            <a:spLocks noGrp="1"/>
          </p:cNvSpPr>
          <p:nvPr/>
        </p:nvSpPr>
        <p:spPr>
          <a:xfrm>
            <a:off x="6543675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1CFF066-8819-4A61-9C0E-EED399B6C7F3}"/>
              </a:ext>
            </a:extLst>
          </p:cNvPr>
          <p:cNvSpPr>
            <a:spLocks noGrp="1"/>
          </p:cNvSpPr>
          <p:nvPr/>
        </p:nvSpPr>
        <p:spPr>
          <a:xfrm>
            <a:off x="6943725" y="2095500"/>
            <a:ext cx="1143000" cy="628650"/>
          </a:xfrm>
          <a:prstGeom prst="rect">
            <a:avLst/>
          </a:prstGeom>
          <a:solidFill>
            <a:srgbClr val="ECECEC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3BE4CA4-EEA8-4AF2-92E2-42043375D87C}"/>
              </a:ext>
            </a:extLst>
          </p:cNvPr>
          <p:cNvSpPr>
            <a:spLocks noGrp="1"/>
          </p:cNvSpPr>
          <p:nvPr/>
        </p:nvSpPr>
        <p:spPr>
          <a:xfrm>
            <a:off x="7019925" y="216816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Resposta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Blazor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845928-4D5E-40F6-9824-C37C0F0988DA}"/>
              </a:ext>
            </a:extLst>
          </p:cNvPr>
          <p:cNvSpPr>
            <a:spLocks noGrp="1"/>
          </p:cNvSpPr>
          <p:nvPr/>
        </p:nvSpPr>
        <p:spPr>
          <a:xfrm>
            <a:off x="3143250" y="3714749"/>
            <a:ext cx="3667125" cy="515165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08B8C8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09FEEC-1DFC-4F2C-BF66-9CC08C4BB430}"/>
              </a:ext>
            </a:extLst>
          </p:cNvPr>
          <p:cNvSpPr>
            <a:spLocks noGrp="1"/>
          </p:cNvSpPr>
          <p:nvPr/>
        </p:nvSpPr>
        <p:spPr>
          <a:xfrm>
            <a:off x="3314700" y="3799932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Eventos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+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+ checkpoints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deixam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o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fluxo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observável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e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retomável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F31F867-B994-4F96-8A5F-2D5A94539F10}"/>
              </a:ext>
            </a:extLst>
          </p:cNvPr>
          <p:cNvSpPr>
            <a:spLocks noGrp="1"/>
          </p:cNvSpPr>
          <p:nvPr/>
        </p:nvSpPr>
        <p:spPr>
          <a:xfrm>
            <a:off x="457200" y="571500"/>
            <a:ext cx="5715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Padrões de orquestração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ACC1F3-4C5B-4EF6-AFE2-B0AAFE5A1414}"/>
              </a:ext>
            </a:extLst>
          </p:cNvPr>
          <p:cNvSpPr>
            <a:spLocks noGrp="1"/>
          </p:cNvSpPr>
          <p:nvPr/>
        </p:nvSpPr>
        <p:spPr>
          <a:xfrm>
            <a:off x="457200" y="127635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5DE3C7-3FC7-4E99-98E3-4AD6C808BF56}"/>
              </a:ext>
            </a:extLst>
          </p:cNvPr>
          <p:cNvSpPr>
            <a:spLocks noGrp="1"/>
          </p:cNvSpPr>
          <p:nvPr/>
        </p:nvSpPr>
        <p:spPr>
          <a:xfrm>
            <a:off x="476250" y="1447800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04BE35-7758-425A-9118-1C3BDC299DDC}"/>
              </a:ext>
            </a:extLst>
          </p:cNvPr>
          <p:cNvSpPr>
            <a:spLocks noGrp="1"/>
          </p:cNvSpPr>
          <p:nvPr/>
        </p:nvSpPr>
        <p:spPr>
          <a:xfrm>
            <a:off x="476250" y="1495425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A5E09A-D895-4C96-A8F3-ED7D3E79F193}"/>
              </a:ext>
            </a:extLst>
          </p:cNvPr>
          <p:cNvSpPr>
            <a:spLocks noGrp="1"/>
          </p:cNvSpPr>
          <p:nvPr/>
        </p:nvSpPr>
        <p:spPr>
          <a:xfrm>
            <a:off x="1000125" y="1428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Sequencial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F74E09-3685-4BE1-B656-149E9AAD6D46}"/>
              </a:ext>
            </a:extLst>
          </p:cNvPr>
          <p:cNvSpPr>
            <a:spLocks noGrp="1"/>
          </p:cNvSpPr>
          <p:nvPr/>
        </p:nvSpPr>
        <p:spPr>
          <a:xfrm>
            <a:off x="1000125" y="1714500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um agente prepara o terreno para o próximo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A3F827-A398-4CA3-A1BD-A16B7EC2A5E6}"/>
              </a:ext>
            </a:extLst>
          </p:cNvPr>
          <p:cNvSpPr>
            <a:spLocks noGrp="1"/>
          </p:cNvSpPr>
          <p:nvPr/>
        </p:nvSpPr>
        <p:spPr>
          <a:xfrm>
            <a:off x="476250" y="2162175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CA2CF9-804F-4F20-BD17-6D9E6119360E}"/>
              </a:ext>
            </a:extLst>
          </p:cNvPr>
          <p:cNvSpPr>
            <a:spLocks noGrp="1"/>
          </p:cNvSpPr>
          <p:nvPr/>
        </p:nvSpPr>
        <p:spPr>
          <a:xfrm>
            <a:off x="476250" y="2209800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1547E6-8CBF-48FB-8178-D83D6B78EA42}"/>
              </a:ext>
            </a:extLst>
          </p:cNvPr>
          <p:cNvSpPr>
            <a:spLocks noGrp="1"/>
          </p:cNvSpPr>
          <p:nvPr/>
        </p:nvSpPr>
        <p:spPr>
          <a:xfrm>
            <a:off x="1000125" y="2143125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Paralelo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CEA0E9-E232-48AE-9AB3-FB61D0D1E1B3}"/>
              </a:ext>
            </a:extLst>
          </p:cNvPr>
          <p:cNvSpPr>
            <a:spLocks noGrp="1"/>
          </p:cNvSpPr>
          <p:nvPr/>
        </p:nvSpPr>
        <p:spPr>
          <a:xfrm>
            <a:off x="1000125" y="2428875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especialistas analisam dimensões diferentes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E73584-D5A2-45C8-9244-EC21680B684C}"/>
              </a:ext>
            </a:extLst>
          </p:cNvPr>
          <p:cNvSpPr>
            <a:spLocks noGrp="1"/>
          </p:cNvSpPr>
          <p:nvPr/>
        </p:nvSpPr>
        <p:spPr>
          <a:xfrm>
            <a:off x="476250" y="2876550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73DEF6-0E88-4C7B-8783-622C7F7A6A20}"/>
              </a:ext>
            </a:extLst>
          </p:cNvPr>
          <p:cNvSpPr>
            <a:spLocks noGrp="1"/>
          </p:cNvSpPr>
          <p:nvPr/>
        </p:nvSpPr>
        <p:spPr>
          <a:xfrm>
            <a:off x="476250" y="2924175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C49807-2AA0-4149-8995-1E3D06E3AA73}"/>
              </a:ext>
            </a:extLst>
          </p:cNvPr>
          <p:cNvSpPr>
            <a:spLocks noGrp="1"/>
          </p:cNvSpPr>
          <p:nvPr/>
        </p:nvSpPr>
        <p:spPr>
          <a:xfrm>
            <a:off x="1000125" y="28575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Handoff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A7AC8C-BFBC-4931-B1B7-B64CE529682F}"/>
              </a:ext>
            </a:extLst>
          </p:cNvPr>
          <p:cNvSpPr>
            <a:spLocks noGrp="1"/>
          </p:cNvSpPr>
          <p:nvPr/>
        </p:nvSpPr>
        <p:spPr>
          <a:xfrm>
            <a:off x="1000125" y="3143250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controle muda de dono conforme o contexto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1B1500-B70C-4D4A-AF39-0A1E20B1A3BE}"/>
              </a:ext>
            </a:extLst>
          </p:cNvPr>
          <p:cNvSpPr>
            <a:spLocks noGrp="1"/>
          </p:cNvSpPr>
          <p:nvPr/>
        </p:nvSpPr>
        <p:spPr>
          <a:xfrm>
            <a:off x="476250" y="3590925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ADBD38-CE50-47E5-B687-C8611F18E0D2}"/>
              </a:ext>
            </a:extLst>
          </p:cNvPr>
          <p:cNvSpPr>
            <a:spLocks noGrp="1"/>
          </p:cNvSpPr>
          <p:nvPr/>
        </p:nvSpPr>
        <p:spPr>
          <a:xfrm>
            <a:off x="476250" y="3638550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AEF672-7959-45E5-817E-0FE1D7B96E30}"/>
              </a:ext>
            </a:extLst>
          </p:cNvPr>
          <p:cNvSpPr>
            <a:spLocks noGrp="1"/>
          </p:cNvSpPr>
          <p:nvPr/>
        </p:nvSpPr>
        <p:spPr>
          <a:xfrm>
            <a:off x="1000125" y="3571875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Crítico/revisor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0C3831-367C-4DF1-83AD-BB04A1093E10}"/>
              </a:ext>
            </a:extLst>
          </p:cNvPr>
          <p:cNvSpPr>
            <a:spLocks noGrp="1"/>
          </p:cNvSpPr>
          <p:nvPr/>
        </p:nvSpPr>
        <p:spPr>
          <a:xfrm>
            <a:off x="1000125" y="3857625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um agente valida risco, qualidade e aderência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0E5BA11-03F7-4FA7-B2CA-38C356D129C7}"/>
              </a:ext>
            </a:extLst>
          </p:cNvPr>
          <p:cNvSpPr>
            <a:spLocks noGrp="1"/>
          </p:cNvSpPr>
          <p:nvPr/>
        </p:nvSpPr>
        <p:spPr>
          <a:xfrm>
            <a:off x="457200" y="4233862"/>
            <a:ext cx="5114109" cy="419100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padrão certo depende menos do nome bonito e mais do contrato de responsabilidade.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7F203A5-C8EB-4D04-B6BA-63ECCB2C3D8B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61912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Cada agente precisa ter uma fronteira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9BA203-4702-4002-84A8-AEF8138BF1AC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5227B2-91CF-40AB-8469-27D79B9B0582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87A908-F622-4095-92FE-E8548D348015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0F709D-56B8-4007-A5D3-4AE5FFA4647E}"/>
              </a:ext>
            </a:extLst>
          </p:cNvPr>
          <p:cNvSpPr>
            <a:spLocks noGrp="1"/>
          </p:cNvSpPr>
          <p:nvPr/>
        </p:nvSpPr>
        <p:spPr>
          <a:xfrm>
            <a:off x="838200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B639A2-836E-4EEE-94DD-0057B31E46AE}"/>
              </a:ext>
            </a:extLst>
          </p:cNvPr>
          <p:cNvSpPr>
            <a:spLocks noGrp="1"/>
          </p:cNvSpPr>
          <p:nvPr/>
        </p:nvSpPr>
        <p:spPr>
          <a:xfrm>
            <a:off x="838200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quebra o objetivo em plano executável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239F96-EE26-4DBF-B6B5-27518024358D}"/>
              </a:ext>
            </a:extLst>
          </p:cNvPr>
          <p:cNvSpPr>
            <a:spLocks noGrp="1"/>
          </p:cNvSpPr>
          <p:nvPr/>
        </p:nvSpPr>
        <p:spPr>
          <a:xfrm>
            <a:off x="2619375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03D0C1-01A1-49E2-A32E-84A430DFD689}"/>
              </a:ext>
            </a:extLst>
          </p:cNvPr>
          <p:cNvSpPr>
            <a:spLocks noGrp="1"/>
          </p:cNvSpPr>
          <p:nvPr/>
        </p:nvSpPr>
        <p:spPr>
          <a:xfrm>
            <a:off x="2619375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12E667-84C9-497D-8B95-DD2B99EE9F77}"/>
              </a:ext>
            </a:extLst>
          </p:cNvPr>
          <p:cNvSpPr>
            <a:spLocks noGrp="1"/>
          </p:cNvSpPr>
          <p:nvPr/>
        </p:nvSpPr>
        <p:spPr>
          <a:xfrm>
            <a:off x="2790825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8ADAFE-933C-440E-A9A4-AEA95770E405}"/>
              </a:ext>
            </a:extLst>
          </p:cNvPr>
          <p:cNvSpPr>
            <a:spLocks noGrp="1"/>
          </p:cNvSpPr>
          <p:nvPr/>
        </p:nvSpPr>
        <p:spPr>
          <a:xfrm>
            <a:off x="2790825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busca contexto e evidências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965A9C-2CAE-4710-9B54-FE0193B56FDB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CD152D-51C6-4458-8E6D-C92E545DE8BD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E076F6-9484-4EBA-910B-A4EB2E53E93B}"/>
              </a:ext>
            </a:extLst>
          </p:cNvPr>
          <p:cNvSpPr>
            <a:spLocks noGrp="1"/>
          </p:cNvSpPr>
          <p:nvPr/>
        </p:nvSpPr>
        <p:spPr>
          <a:xfrm>
            <a:off x="4743450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75F4A9-9928-4933-9308-0D8EDF7011CA}"/>
              </a:ext>
            </a:extLst>
          </p:cNvPr>
          <p:cNvSpPr>
            <a:spLocks noGrp="1"/>
          </p:cNvSpPr>
          <p:nvPr/>
        </p:nvSpPr>
        <p:spPr>
          <a:xfrm>
            <a:off x="4743450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chama APIs, funções e ferramentas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D08CCE-2737-4421-ADA6-3E60A7FF1CF5}"/>
              </a:ext>
            </a:extLst>
          </p:cNvPr>
          <p:cNvSpPr>
            <a:spLocks noGrp="1"/>
          </p:cNvSpPr>
          <p:nvPr/>
        </p:nvSpPr>
        <p:spPr>
          <a:xfrm>
            <a:off x="6524625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C17CC7-E5A6-4CD0-AE17-77E4C46F3C35}"/>
              </a:ext>
            </a:extLst>
          </p:cNvPr>
          <p:cNvSpPr>
            <a:spLocks noGrp="1"/>
          </p:cNvSpPr>
          <p:nvPr/>
        </p:nvSpPr>
        <p:spPr>
          <a:xfrm>
            <a:off x="6524625" y="1809750"/>
            <a:ext cx="76200" cy="14287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8D223DE-859F-4640-85A6-EA61DCEEE592}"/>
              </a:ext>
            </a:extLst>
          </p:cNvPr>
          <p:cNvSpPr>
            <a:spLocks noGrp="1"/>
          </p:cNvSpPr>
          <p:nvPr/>
        </p:nvSpPr>
        <p:spPr>
          <a:xfrm>
            <a:off x="6696075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Reviewer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C42FC0-E688-4773-BCCA-02576EC74428}"/>
              </a:ext>
            </a:extLst>
          </p:cNvPr>
          <p:cNvSpPr>
            <a:spLocks noGrp="1"/>
          </p:cNvSpPr>
          <p:nvPr/>
        </p:nvSpPr>
        <p:spPr>
          <a:xfrm>
            <a:off x="6696075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confere qualidade, riscos e próximos passos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654891-FF82-45D7-9179-1BE40CC9B3A3}"/>
              </a:ext>
            </a:extLst>
          </p:cNvPr>
          <p:cNvSpPr>
            <a:spLocks noGrp="1"/>
          </p:cNvSpPr>
          <p:nvPr/>
        </p:nvSpPr>
        <p:spPr>
          <a:xfrm>
            <a:off x="876300" y="3857625"/>
            <a:ext cx="6953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Bom sinal: você consegue trocar um agente sem reescrever a aplicação inteira.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988E1B1-76FE-4502-86A6-D2FE6C275695}"/>
              </a:ext>
            </a:extLst>
          </p:cNvPr>
          <p:cNvSpPr>
            <a:spLocks noGrp="1"/>
          </p:cNvSpPr>
          <p:nvPr/>
        </p:nvSpPr>
        <p:spPr>
          <a:xfrm>
            <a:off x="457200" y="41910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08B8C8"/>
                </a:solidFill>
                <a:latin typeface="Courier New"/>
                <a:ea typeface="Courier New"/>
                <a:cs typeface="Courier New"/>
              </a:defRPr>
            </a:pPr>
            <a:r>
              <a:rPr sz="675" b="1">
                <a:solidFill>
                  <a:srgbClr val="08B8C8"/>
                </a:solidFill>
                <a:latin typeface="Courier New"/>
                <a:ea typeface="Courier New"/>
                <a:cs typeface="Courier New"/>
              </a:rPr>
              <a:t>/08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FAAF43-71EB-4925-8AE6-C0983CAC4D29}"/>
              </a:ext>
            </a:extLst>
          </p:cNvPr>
          <p:cNvSpPr>
            <a:spLocks noGrp="1"/>
          </p:cNvSpPr>
          <p:nvPr/>
        </p:nvSpPr>
        <p:spPr>
          <a:xfrm>
            <a:off x="457199" y="666750"/>
            <a:ext cx="6459583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Demo: do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objetivo</a:t>
            </a: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ao</a:t>
            </a: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plano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revisado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48706F-ADC4-4AC4-BA56-820B66076433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FB24DD-4DD9-4739-8D73-AE0630AAB85B}"/>
              </a:ext>
            </a:extLst>
          </p:cNvPr>
          <p:cNvSpPr>
            <a:spLocks noGrp="1"/>
          </p:cNvSpPr>
          <p:nvPr/>
        </p:nvSpPr>
        <p:spPr>
          <a:xfrm>
            <a:off x="457200" y="1571625"/>
            <a:ext cx="2476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Cenário proposto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17DF89-C18A-4CC7-BBF4-89ABA506C926}"/>
              </a:ext>
            </a:extLst>
          </p:cNvPr>
          <p:cNvSpPr>
            <a:spLocks noGrp="1"/>
          </p:cNvSpPr>
          <p:nvPr/>
        </p:nvSpPr>
        <p:spPr>
          <a:xfrm>
            <a:off x="457200" y="1952625"/>
            <a:ext cx="53340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Um usuário informa um objetivo. O workflow divide a tarefa, aciona agentes especializados, acompanha eventos em tempo real e entrega um plano final com justificativa e riscos.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786B9-5C16-459A-AB37-D50ED8207927}"/>
              </a:ext>
            </a:extLst>
          </p:cNvPr>
          <p:cNvSpPr>
            <a:spLocks noGrp="1"/>
          </p:cNvSpPr>
          <p:nvPr/>
        </p:nvSpPr>
        <p:spPr>
          <a:xfrm>
            <a:off x="533400" y="3238500"/>
            <a:ext cx="723900" cy="45720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DA8EB9-D673-4985-9A7F-808F49FC7D4E}"/>
              </a:ext>
            </a:extLst>
          </p:cNvPr>
          <p:cNvSpPr>
            <a:spLocks noGrp="1"/>
          </p:cNvSpPr>
          <p:nvPr/>
        </p:nvSpPr>
        <p:spPr>
          <a:xfrm>
            <a:off x="6096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Objetivo</a:t>
            </a:r>
            <a:endParaRPr sz="8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1EA30C-22B4-4327-9EEB-0C5DD570F0F7}"/>
              </a:ext>
            </a:extLst>
          </p:cNvPr>
          <p:cNvSpPr>
            <a:spLocks noGrp="1"/>
          </p:cNvSpPr>
          <p:nvPr/>
        </p:nvSpPr>
        <p:spPr>
          <a:xfrm>
            <a:off x="12573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8AAE21-C9DC-4D6A-BB2D-C4BFE88168A3}"/>
              </a:ext>
            </a:extLst>
          </p:cNvPr>
          <p:cNvSpPr>
            <a:spLocks noGrp="1"/>
          </p:cNvSpPr>
          <p:nvPr/>
        </p:nvSpPr>
        <p:spPr>
          <a:xfrm>
            <a:off x="14097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07D62A-590B-42A6-9FBF-C116606312DD}"/>
              </a:ext>
            </a:extLst>
          </p:cNvPr>
          <p:cNvSpPr>
            <a:spLocks noGrp="1"/>
          </p:cNvSpPr>
          <p:nvPr/>
        </p:nvSpPr>
        <p:spPr>
          <a:xfrm>
            <a:off x="14859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71FE11-815B-4E43-84BF-3C66E74944CB}"/>
              </a:ext>
            </a:extLst>
          </p:cNvPr>
          <p:cNvSpPr>
            <a:spLocks noGrp="1"/>
          </p:cNvSpPr>
          <p:nvPr/>
        </p:nvSpPr>
        <p:spPr>
          <a:xfrm>
            <a:off x="21336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9E0FC1-DB1A-4BC2-BE6E-8A732EE0668D}"/>
              </a:ext>
            </a:extLst>
          </p:cNvPr>
          <p:cNvSpPr>
            <a:spLocks noGrp="1"/>
          </p:cNvSpPr>
          <p:nvPr/>
        </p:nvSpPr>
        <p:spPr>
          <a:xfrm>
            <a:off x="22860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91B892-C6F5-4569-BB2E-5A1636E8A1F2}"/>
              </a:ext>
            </a:extLst>
          </p:cNvPr>
          <p:cNvSpPr>
            <a:spLocks noGrp="1"/>
          </p:cNvSpPr>
          <p:nvPr/>
        </p:nvSpPr>
        <p:spPr>
          <a:xfrm>
            <a:off x="23622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Pesquisa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3805A6-6ACE-4E50-BA1D-520492CDD72E}"/>
              </a:ext>
            </a:extLst>
          </p:cNvPr>
          <p:cNvSpPr>
            <a:spLocks noGrp="1"/>
          </p:cNvSpPr>
          <p:nvPr/>
        </p:nvSpPr>
        <p:spPr>
          <a:xfrm>
            <a:off x="30099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3E322A-4C2C-44B5-9BDD-BD233E4D6B3E}"/>
              </a:ext>
            </a:extLst>
          </p:cNvPr>
          <p:cNvSpPr>
            <a:spLocks noGrp="1"/>
          </p:cNvSpPr>
          <p:nvPr/>
        </p:nvSpPr>
        <p:spPr>
          <a:xfrm>
            <a:off x="31623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8C83C0-48BC-4EB5-8D23-2282438B0E2F}"/>
              </a:ext>
            </a:extLst>
          </p:cNvPr>
          <p:cNvSpPr>
            <a:spLocks noGrp="1"/>
          </p:cNvSpPr>
          <p:nvPr/>
        </p:nvSpPr>
        <p:spPr>
          <a:xfrm>
            <a:off x="32385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Execução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B77C1B-7CBD-4876-830C-6788FA430392}"/>
              </a:ext>
            </a:extLst>
          </p:cNvPr>
          <p:cNvSpPr>
            <a:spLocks noGrp="1"/>
          </p:cNvSpPr>
          <p:nvPr/>
        </p:nvSpPr>
        <p:spPr>
          <a:xfrm>
            <a:off x="38862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15A25F-8A84-4B9A-AE24-BEAE02C63DB3}"/>
              </a:ext>
            </a:extLst>
          </p:cNvPr>
          <p:cNvSpPr>
            <a:spLocks noGrp="1"/>
          </p:cNvSpPr>
          <p:nvPr/>
        </p:nvSpPr>
        <p:spPr>
          <a:xfrm>
            <a:off x="40386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99CD0A-EC99-432F-8D7D-FC2F86DE9094}"/>
              </a:ext>
            </a:extLst>
          </p:cNvPr>
          <p:cNvSpPr>
            <a:spLocks noGrp="1"/>
          </p:cNvSpPr>
          <p:nvPr/>
        </p:nvSpPr>
        <p:spPr>
          <a:xfrm>
            <a:off x="41148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Revisão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8A313A-64F9-44D6-A3C6-831A2ED74A65}"/>
              </a:ext>
            </a:extLst>
          </p:cNvPr>
          <p:cNvSpPr>
            <a:spLocks noGrp="1"/>
          </p:cNvSpPr>
          <p:nvPr/>
        </p:nvSpPr>
        <p:spPr>
          <a:xfrm>
            <a:off x="47625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E99DFB-A5A4-4775-A688-70F231DB03F0}"/>
              </a:ext>
            </a:extLst>
          </p:cNvPr>
          <p:cNvSpPr>
            <a:spLocks noGrp="1"/>
          </p:cNvSpPr>
          <p:nvPr/>
        </p:nvSpPr>
        <p:spPr>
          <a:xfrm>
            <a:off x="4914900" y="3238500"/>
            <a:ext cx="723900" cy="45720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9E2F292-7321-43DC-A9FE-8DEFB20381FF}"/>
              </a:ext>
            </a:extLst>
          </p:cNvPr>
          <p:cNvSpPr>
            <a:spLocks noGrp="1"/>
          </p:cNvSpPr>
          <p:nvPr/>
        </p:nvSpPr>
        <p:spPr>
          <a:xfrm>
            <a:off x="49911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Resposta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29CBF-0ADB-4935-83EB-CA66C37620D1}"/>
              </a:ext>
            </a:extLst>
          </p:cNvPr>
          <p:cNvSpPr>
            <a:spLocks noGrp="1"/>
          </p:cNvSpPr>
          <p:nvPr/>
        </p:nvSpPr>
        <p:spPr>
          <a:xfrm>
            <a:off x="457200" y="4095750"/>
            <a:ext cx="5429250" cy="438150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demo deve vender o raciocínio do fluxo, não só a resposta bonita no fim.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B2C17C4-5A16-4E71-A0D2-6092C57E821E}"/>
              </a:ext>
            </a:extLst>
          </p:cNvPr>
          <p:cNvSpPr>
            <a:spLocks noGrp="1"/>
          </p:cNvSpPr>
          <p:nvPr/>
        </p:nvSpPr>
        <p:spPr>
          <a:xfrm>
            <a:off x="457200" y="552450"/>
            <a:ext cx="56197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Blazor como cockpit do 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FBB6C8-84EC-4136-A6DB-A0AB66892E8F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C36E84-6E1F-4E2B-9F1F-9CE6962F28F0}"/>
              </a:ext>
            </a:extLst>
          </p:cNvPr>
          <p:cNvSpPr>
            <a:spLocks noGrp="1"/>
          </p:cNvSpPr>
          <p:nvPr/>
        </p:nvSpPr>
        <p:spPr>
          <a:xfrm>
            <a:off x="590550" y="1638300"/>
            <a:ext cx="1285875" cy="66675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082241-7DFE-4B9F-8B30-84CF3C0218B5}"/>
              </a:ext>
            </a:extLst>
          </p:cNvPr>
          <p:cNvSpPr>
            <a:spLocks noGrp="1"/>
          </p:cNvSpPr>
          <p:nvPr/>
        </p:nvSpPr>
        <p:spPr>
          <a:xfrm>
            <a:off x="666750" y="1724025"/>
            <a:ext cx="113347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Blazor UI</a:t>
            </a:r>
          </a:p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stream + estado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8BF201-2A20-404D-B2DF-73585A39E6F7}"/>
              </a:ext>
            </a:extLst>
          </p:cNvPr>
          <p:cNvSpPr>
            <a:spLocks noGrp="1"/>
          </p:cNvSpPr>
          <p:nvPr/>
        </p:nvSpPr>
        <p:spPr>
          <a:xfrm>
            <a:off x="1876425" y="1962150"/>
            <a:ext cx="45720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D7A3D6-B550-436C-BB41-4B483E58DF77}"/>
              </a:ext>
            </a:extLst>
          </p:cNvPr>
          <p:cNvSpPr>
            <a:spLocks noGrp="1"/>
          </p:cNvSpPr>
          <p:nvPr/>
        </p:nvSpPr>
        <p:spPr>
          <a:xfrm>
            <a:off x="2333625" y="1638300"/>
            <a:ext cx="1285875" cy="666750"/>
          </a:xfrm>
          <a:prstGeom prst="rect">
            <a:avLst/>
          </a:prstGeom>
          <a:solidFill>
            <a:srgbClr val="08B8C8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C35BA3-7ECB-4A22-A79F-DAB34F5A3B7F}"/>
              </a:ext>
            </a:extLst>
          </p:cNvPr>
          <p:cNvSpPr>
            <a:spLocks noGrp="1"/>
          </p:cNvSpPr>
          <p:nvPr/>
        </p:nvSpPr>
        <p:spPr>
          <a:xfrm>
            <a:off x="2409825" y="1724025"/>
            <a:ext cx="113347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.NET API</a:t>
            </a:r>
          </a:p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Workflow host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96E9A6-9735-434F-86F1-E4C7B2DEE73F}"/>
              </a:ext>
            </a:extLst>
          </p:cNvPr>
          <p:cNvSpPr>
            <a:spLocks noGrp="1"/>
          </p:cNvSpPr>
          <p:nvPr/>
        </p:nvSpPr>
        <p:spPr>
          <a:xfrm>
            <a:off x="3619500" y="1962150"/>
            <a:ext cx="4381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82C47A-0225-485E-A81B-36B5D6B6B602}"/>
              </a:ext>
            </a:extLst>
          </p:cNvPr>
          <p:cNvSpPr>
            <a:spLocks noGrp="1"/>
          </p:cNvSpPr>
          <p:nvPr/>
        </p:nvSpPr>
        <p:spPr>
          <a:xfrm>
            <a:off x="4057650" y="1638300"/>
            <a:ext cx="1285875" cy="6667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22F060-E9A0-4330-BED8-167111375699}"/>
              </a:ext>
            </a:extLst>
          </p:cNvPr>
          <p:cNvSpPr>
            <a:spLocks noGrp="1"/>
          </p:cNvSpPr>
          <p:nvPr/>
        </p:nvSpPr>
        <p:spPr>
          <a:xfrm>
            <a:off x="4133850" y="1724025"/>
            <a:ext cx="113347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5AEAA0-9273-4C61-A403-F82AB7738E3E}"/>
              </a:ext>
            </a:extLst>
          </p:cNvPr>
          <p:cNvSpPr>
            <a:spLocks noGrp="1"/>
          </p:cNvSpPr>
          <p:nvPr/>
        </p:nvSpPr>
        <p:spPr>
          <a:xfrm>
            <a:off x="5343525" y="1962150"/>
            <a:ext cx="4381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647AB0-0512-42D5-97D0-E4BA9C594C31}"/>
              </a:ext>
            </a:extLst>
          </p:cNvPr>
          <p:cNvSpPr>
            <a:spLocks noGrp="1"/>
          </p:cNvSpPr>
          <p:nvPr/>
        </p:nvSpPr>
        <p:spPr>
          <a:xfrm>
            <a:off x="5781675" y="1638300"/>
            <a:ext cx="1381125" cy="666750"/>
          </a:xfrm>
          <a:prstGeom prst="rect">
            <a:avLst/>
          </a:prstGeom>
          <a:solidFill>
            <a:srgbClr val="ECECEC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7BA5E1-1FC3-4328-8F4D-D7A838794310}"/>
              </a:ext>
            </a:extLst>
          </p:cNvPr>
          <p:cNvSpPr>
            <a:spLocks noGrp="1"/>
          </p:cNvSpPr>
          <p:nvPr/>
        </p:nvSpPr>
        <p:spPr>
          <a:xfrm>
            <a:off x="5857875" y="1724025"/>
            <a:ext cx="122872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Azure OpenAI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Foundry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F8C3AB-06CE-4174-A35B-092ED4309082}"/>
              </a:ext>
            </a:extLst>
          </p:cNvPr>
          <p:cNvSpPr>
            <a:spLocks noGrp="1"/>
          </p:cNvSpPr>
          <p:nvPr/>
        </p:nvSpPr>
        <p:spPr>
          <a:xfrm>
            <a:off x="3143250" y="2952750"/>
            <a:ext cx="9906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DA33E3-426C-4E33-A7BE-DCDDB01CF732}"/>
              </a:ext>
            </a:extLst>
          </p:cNvPr>
          <p:cNvSpPr>
            <a:spLocks noGrp="1"/>
          </p:cNvSpPr>
          <p:nvPr/>
        </p:nvSpPr>
        <p:spPr>
          <a:xfrm>
            <a:off x="2857500" y="2686050"/>
            <a:ext cx="4000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08B8C8"/>
            </a:solidFill>
            <a:prstDash val="solid"/>
          </a:ln>
        </p:spPr>
        <p:txBody>
          <a:bodyPr/>
          <a:lstStyle/>
          <a:p>
            <a:endParaRPr lang="en-BR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DC0C88-9366-4A0A-9E37-A213307091D5}"/>
              </a:ext>
            </a:extLst>
          </p:cNvPr>
          <p:cNvSpPr>
            <a:spLocks noGrp="1"/>
          </p:cNvSpPr>
          <p:nvPr/>
        </p:nvSpPr>
        <p:spPr>
          <a:xfrm>
            <a:off x="3219450" y="3018882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587728-2F17-4261-8FCB-5172DB165E19}"/>
              </a:ext>
            </a:extLst>
          </p:cNvPr>
          <p:cNvSpPr>
            <a:spLocks noGrp="1"/>
          </p:cNvSpPr>
          <p:nvPr/>
        </p:nvSpPr>
        <p:spPr>
          <a:xfrm>
            <a:off x="4362450" y="2952750"/>
            <a:ext cx="9906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EA5FE3-9A14-49D4-A810-C39359A8F686}"/>
              </a:ext>
            </a:extLst>
          </p:cNvPr>
          <p:cNvSpPr>
            <a:spLocks noGrp="1"/>
          </p:cNvSpPr>
          <p:nvPr/>
        </p:nvSpPr>
        <p:spPr>
          <a:xfrm>
            <a:off x="4438650" y="3018882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F8AF1D-2BA6-441F-A72B-749C93E43717}"/>
              </a:ext>
            </a:extLst>
          </p:cNvPr>
          <p:cNvSpPr>
            <a:spLocks noGrp="1"/>
          </p:cNvSpPr>
          <p:nvPr/>
        </p:nvSpPr>
        <p:spPr>
          <a:xfrm>
            <a:off x="5581650" y="2952750"/>
            <a:ext cx="9906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684766-4E6D-4FB8-A93D-1762808272B8}"/>
              </a:ext>
            </a:extLst>
          </p:cNvPr>
          <p:cNvSpPr>
            <a:spLocks noGrp="1"/>
          </p:cNvSpPr>
          <p:nvPr/>
        </p:nvSpPr>
        <p:spPr>
          <a:xfrm>
            <a:off x="5657850" y="3018882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Reviewer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D0E4B1F-7F48-4CB7-B511-DE57B7670BB1}"/>
              </a:ext>
            </a:extLst>
          </p:cNvPr>
          <p:cNvSpPr>
            <a:spLocks noGrp="1"/>
          </p:cNvSpPr>
          <p:nvPr/>
        </p:nvSpPr>
        <p:spPr>
          <a:xfrm>
            <a:off x="4133850" y="3171825"/>
            <a:ext cx="2286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673C2D-DEAB-42EE-B4AA-7FA3EF75A2C4}"/>
              </a:ext>
            </a:extLst>
          </p:cNvPr>
          <p:cNvSpPr>
            <a:spLocks noGrp="1"/>
          </p:cNvSpPr>
          <p:nvPr/>
        </p:nvSpPr>
        <p:spPr>
          <a:xfrm>
            <a:off x="5353050" y="3171825"/>
            <a:ext cx="2286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ED0024-B85B-42E1-AF4A-14D1CCE7CE27}"/>
              </a:ext>
            </a:extLst>
          </p:cNvPr>
          <p:cNvSpPr>
            <a:spLocks noGrp="1"/>
          </p:cNvSpPr>
          <p:nvPr/>
        </p:nvSpPr>
        <p:spPr>
          <a:xfrm>
            <a:off x="819150" y="4048125"/>
            <a:ext cx="7048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Ferramentas: APIs, MCP, banco, arquivos, serviços internos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98F3ECA-1717-4347-B2EE-04BA4DC0BEA4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 que separa demo de produto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BFE37E-2851-4FB8-A528-3E66C6EE061E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449C99-C1C5-43FB-BA3F-56C789649782}"/>
              </a:ext>
            </a:extLst>
          </p:cNvPr>
          <p:cNvSpPr>
            <a:spLocks noGrp="1"/>
          </p:cNvSpPr>
          <p:nvPr/>
        </p:nvSpPr>
        <p:spPr>
          <a:xfrm>
            <a:off x="590550" y="176212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C846B3-0C05-4E05-B2AC-5BA8729A309D}"/>
              </a:ext>
            </a:extLst>
          </p:cNvPr>
          <p:cNvSpPr>
            <a:spLocks noGrp="1"/>
          </p:cNvSpPr>
          <p:nvPr/>
        </p:nvSpPr>
        <p:spPr>
          <a:xfrm>
            <a:off x="590550" y="176212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708719-9DD6-4741-8BDF-6FAC90424DF4}"/>
              </a:ext>
            </a:extLst>
          </p:cNvPr>
          <p:cNvSpPr>
            <a:spLocks noGrp="1"/>
          </p:cNvSpPr>
          <p:nvPr/>
        </p:nvSpPr>
        <p:spPr>
          <a:xfrm>
            <a:off x="762000" y="191452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9EB19-9715-4198-B7E0-99F6374DE0A4}"/>
              </a:ext>
            </a:extLst>
          </p:cNvPr>
          <p:cNvSpPr>
            <a:spLocks noGrp="1"/>
          </p:cNvSpPr>
          <p:nvPr/>
        </p:nvSpPr>
        <p:spPr>
          <a:xfrm>
            <a:off x="762000" y="220027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checkpoint, retomada e idempotência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E14375-4550-4554-AACC-3F04728BE380}"/>
              </a:ext>
            </a:extLst>
          </p:cNvPr>
          <p:cNvSpPr>
            <a:spLocks noGrp="1"/>
          </p:cNvSpPr>
          <p:nvPr/>
        </p:nvSpPr>
        <p:spPr>
          <a:xfrm>
            <a:off x="3114675" y="176212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0A993F-AFFF-4633-A8F6-2F8DAD3153E0}"/>
              </a:ext>
            </a:extLst>
          </p:cNvPr>
          <p:cNvSpPr>
            <a:spLocks noGrp="1"/>
          </p:cNvSpPr>
          <p:nvPr/>
        </p:nvSpPr>
        <p:spPr>
          <a:xfrm>
            <a:off x="3114675" y="176212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FB6CCD-39B8-4A19-972C-F3C1E3BAC0AD}"/>
              </a:ext>
            </a:extLst>
          </p:cNvPr>
          <p:cNvSpPr>
            <a:spLocks noGrp="1"/>
          </p:cNvSpPr>
          <p:nvPr/>
        </p:nvSpPr>
        <p:spPr>
          <a:xfrm>
            <a:off x="3286125" y="191452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A6D45-6E21-42EF-837A-C88601C763A3}"/>
              </a:ext>
            </a:extLst>
          </p:cNvPr>
          <p:cNvSpPr>
            <a:spLocks noGrp="1"/>
          </p:cNvSpPr>
          <p:nvPr/>
        </p:nvSpPr>
        <p:spPr>
          <a:xfrm>
            <a:off x="3286125" y="220027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eventos, traces, custo e latência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06BD08-0827-4FEA-A1DA-40DF266442DA}"/>
              </a:ext>
            </a:extLst>
          </p:cNvPr>
          <p:cNvSpPr>
            <a:spLocks noGrp="1"/>
          </p:cNvSpPr>
          <p:nvPr/>
        </p:nvSpPr>
        <p:spPr>
          <a:xfrm>
            <a:off x="5638800" y="176212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8BA86F-C51F-46E7-8009-23D36B25CD3C}"/>
              </a:ext>
            </a:extLst>
          </p:cNvPr>
          <p:cNvSpPr>
            <a:spLocks noGrp="1"/>
          </p:cNvSpPr>
          <p:nvPr/>
        </p:nvSpPr>
        <p:spPr>
          <a:xfrm>
            <a:off x="5638800" y="1762125"/>
            <a:ext cx="76200" cy="100012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8E2B648-B47C-44B9-8864-A16A0C111B11}"/>
              </a:ext>
            </a:extLst>
          </p:cNvPr>
          <p:cNvSpPr>
            <a:spLocks noGrp="1"/>
          </p:cNvSpPr>
          <p:nvPr/>
        </p:nvSpPr>
        <p:spPr>
          <a:xfrm>
            <a:off x="5810250" y="191452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E8ED4D-72B2-4A3C-83E8-79DE4F3F3022}"/>
              </a:ext>
            </a:extLst>
          </p:cNvPr>
          <p:cNvSpPr>
            <a:spLocks noGrp="1"/>
          </p:cNvSpPr>
          <p:nvPr/>
        </p:nvSpPr>
        <p:spPr>
          <a:xfrm>
            <a:off x="5810250" y="220027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escopo de ferramentas e aprovação humana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592FD6-6FF3-4143-8040-649AAD6B507E}"/>
              </a:ext>
            </a:extLst>
          </p:cNvPr>
          <p:cNvSpPr>
            <a:spLocks noGrp="1"/>
          </p:cNvSpPr>
          <p:nvPr/>
        </p:nvSpPr>
        <p:spPr>
          <a:xfrm>
            <a:off x="1847850" y="319087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6DA220-FEBC-48FE-BE0D-7C4A910C8534}"/>
              </a:ext>
            </a:extLst>
          </p:cNvPr>
          <p:cNvSpPr>
            <a:spLocks noGrp="1"/>
          </p:cNvSpPr>
          <p:nvPr/>
        </p:nvSpPr>
        <p:spPr>
          <a:xfrm>
            <a:off x="1847850" y="319087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FF2FD6-B149-47A2-85EF-48DA6055BF8B}"/>
              </a:ext>
            </a:extLst>
          </p:cNvPr>
          <p:cNvSpPr>
            <a:spLocks noGrp="1"/>
          </p:cNvSpPr>
          <p:nvPr/>
        </p:nvSpPr>
        <p:spPr>
          <a:xfrm>
            <a:off x="2019300" y="334327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Avaliação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0B85CD-00B3-465C-BF7A-8163C17C11B7}"/>
              </a:ext>
            </a:extLst>
          </p:cNvPr>
          <p:cNvSpPr>
            <a:spLocks noGrp="1"/>
          </p:cNvSpPr>
          <p:nvPr/>
        </p:nvSpPr>
        <p:spPr>
          <a:xfrm>
            <a:off x="2019300" y="362902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testes de fluxo, regressão e qualidade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AC5602-7846-48F5-9C99-320D48E66AC8}"/>
              </a:ext>
            </a:extLst>
          </p:cNvPr>
          <p:cNvSpPr>
            <a:spLocks noGrp="1"/>
          </p:cNvSpPr>
          <p:nvPr/>
        </p:nvSpPr>
        <p:spPr>
          <a:xfrm>
            <a:off x="4371975" y="319087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2A5531-0FF7-4AF1-B379-797075AFEC70}"/>
              </a:ext>
            </a:extLst>
          </p:cNvPr>
          <p:cNvSpPr>
            <a:spLocks noGrp="1"/>
          </p:cNvSpPr>
          <p:nvPr/>
        </p:nvSpPr>
        <p:spPr>
          <a:xfrm>
            <a:off x="4371975" y="319087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44A2355-BDC2-476E-8449-4D7A58940C38}"/>
              </a:ext>
            </a:extLst>
          </p:cNvPr>
          <p:cNvSpPr>
            <a:spLocks noGrp="1"/>
          </p:cNvSpPr>
          <p:nvPr/>
        </p:nvSpPr>
        <p:spPr>
          <a:xfrm>
            <a:off x="4543425" y="334327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UX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87D04C-EAF6-4BD3-9917-0FC0660E047B}"/>
              </a:ext>
            </a:extLst>
          </p:cNvPr>
          <p:cNvSpPr>
            <a:spLocks noGrp="1"/>
          </p:cNvSpPr>
          <p:nvPr/>
        </p:nvSpPr>
        <p:spPr>
          <a:xfrm>
            <a:off x="4543425" y="362902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progresso claro e intervenção no momento certo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B160EC2-0497-4D06-93E1-1573696148C4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Leve a demo para casa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ECDBAA-F879-4E82-9D86-9BEB14534812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2D1649-FE35-443D-B68B-98BD30B70849}"/>
              </a:ext>
            </a:extLst>
          </p:cNvPr>
          <p:cNvSpPr>
            <a:spLocks noGrp="1"/>
          </p:cNvSpPr>
          <p:nvPr/>
        </p:nvSpPr>
        <p:spPr>
          <a:xfrm>
            <a:off x="457200" y="16764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Repositório da demo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2D6956-D173-4DAD-85CA-8159EF17E007}"/>
              </a:ext>
            </a:extLst>
          </p:cNvPr>
          <p:cNvSpPr>
            <a:spLocks noGrp="1"/>
          </p:cNvSpPr>
          <p:nvPr/>
        </p:nvSpPr>
        <p:spPr>
          <a:xfrm>
            <a:off x="457200" y="2057400"/>
            <a:ext cx="7243354" cy="45720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133350" tIns="95250" rIns="133350" bIns="76200" anchor="t"/>
          <a:lstStyle/>
          <a:p>
            <a:pPr algn="l">
              <a:defRPr sz="16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github.com</a:t>
            </a:r>
            <a:r>
              <a:rPr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gustavobigardi</a:t>
            </a:r>
            <a:r>
              <a:rPr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mvpconf</a:t>
            </a:r>
            <a:r>
              <a:rPr lang="pt-BR"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blazor</a:t>
            </a:r>
            <a:r>
              <a:rPr lang="pt-BR"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agent</a:t>
            </a:r>
            <a:r>
              <a:rPr lang="pt-BR"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-workflow</a:t>
            </a:r>
            <a:endParaRPr sz="1650" b="1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6F197F-0A28-C804-2CAE-A6B654A43B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262890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A205912-B1D1-4B0D-9835-E63E7AF70B14}"/>
              </a:ext>
            </a:extLst>
          </p:cNvPr>
          <p:cNvSpPr>
            <a:spLocks noGrp="1"/>
          </p:cNvSpPr>
          <p:nvPr/>
        </p:nvSpPr>
        <p:spPr>
          <a:xfrm>
            <a:off x="2114550" y="2781300"/>
            <a:ext cx="3905250" cy="1123950"/>
          </a:xfrm>
          <a:prstGeom prst="rect">
            <a:avLst/>
          </a:prstGeom>
          <a:solidFill>
            <a:srgbClr val="C7C7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173722-DBCF-40C3-90A2-5EB374FC2E21}"/>
              </a:ext>
            </a:extLst>
          </p:cNvPr>
          <p:cNvSpPr>
            <a:spLocks noGrp="1"/>
          </p:cNvSpPr>
          <p:nvPr/>
        </p:nvSpPr>
        <p:spPr>
          <a:xfrm>
            <a:off x="3333750" y="2895600"/>
            <a:ext cx="2190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Perguntas?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641B29-37C7-4FB5-9552-5476EFC2B3A2}"/>
              </a:ext>
            </a:extLst>
          </p:cNvPr>
          <p:cNvSpPr>
            <a:spLocks noGrp="1"/>
          </p:cNvSpPr>
          <p:nvPr/>
        </p:nvSpPr>
        <p:spPr>
          <a:xfrm>
            <a:off x="3333750" y="3276600"/>
            <a:ext cx="2857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dirty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Demo e slides</a:t>
            </a:r>
            <a:r>
              <a:rPr lang="pt-BR" sz="975" b="0" dirty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no </a:t>
            </a:r>
            <a:r>
              <a:rPr lang="pt-BR" sz="975" b="0" dirty="0" err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repositó</a:t>
            </a:r>
            <a:endParaRPr sz="975" b="0" dirty="0">
              <a:solidFill>
                <a:srgbClr val="111111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80744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648</Words>
  <Application>Microsoft Macintosh PowerPoint</Application>
  <DocSecurity>0</DocSecurity>
  <PresentationFormat>On-screen Show (16:9)</PresentationFormat>
  <Paragraphs>128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Gustavo Bellini Bigardi</cp:lastModifiedBy>
  <cp:revision>7</cp:revision>
  <dcterms:created xsi:type="dcterms:W3CDTF">2026-06-10T23:29:07Z</dcterms:created>
  <dcterms:modified xsi:type="dcterms:W3CDTF">2026-06-11T23:14:52Z</dcterms:modified>
</cp:coreProperties>
</file>