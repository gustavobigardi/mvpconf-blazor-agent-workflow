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9" r:id="rId14"/>
    <p:sldId id="270" r:id="rId15"/>
    <p:sldId id="271" r:id="rId16"/>
  </p:sldIdLst>
  <p:sldSz cx="9144000" cy="5143500" type="screen16x9"/>
  <p:notesSz cx="6858000" cy="9144000"/>
  <p:defaultTextStyle>
    <a:defPPr>
      <a:defRPr lang="en-US"/>
    </a:defPPr>
    <a:lvl1pPr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520"/>
    <p:restoredTop sz="94653"/>
  </p:normalViewPr>
  <p:slideViewPr>
    <p:cSldViewPr snapToGrid="0">
      <p:cViewPr varScale="1">
        <p:scale>
          <a:sx n="195" d="100"/>
          <a:sy n="195" d="100"/>
        </p:scale>
        <p:origin x="520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342900" indent="-342900" algn="l">
        <a:spcBef>
          <a:spcPts val="0"/>
        </a:spcBef>
        <a:buChar char="•"/>
        <a:defRPr sz="3200">
          <a:solidFill>
            <a:schemeClr val="tx1"/>
          </a:solidFill>
          <a:latin typeface="+mn-lt"/>
          <a:ea typeface="+mn-lt"/>
          <a:cs typeface="+mn-lt"/>
        </a:defRPr>
      </a:lvl1pPr>
      <a:lvl2pPr marL="742950" indent="-285750" algn="l">
        <a:spcBef>
          <a:spcPts val="0"/>
        </a:spcBef>
        <a:buChar char="–"/>
        <a:defRPr sz="28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spcBef>
          <a:spcPts val="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spcBef>
          <a:spcPts val="0"/>
        </a:spcBef>
        <a:buChar char="–"/>
        <a:defRPr sz="20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spcBef>
          <a:spcPts val="0"/>
        </a:spcBef>
        <a:buChar char="»"/>
        <a:defRPr sz="20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spcBef>
          <a:spcPts val="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spcBef>
          <a:spcPts val="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spcBef>
          <a:spcPts val="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spcBef>
          <a:spcPts val="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259900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 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0869CF17-DAA2-462B-B6FF-7BD0A5498D2E}"/>
              </a:ext>
            </a:extLst>
          </p:cNvPr>
          <p:cNvSpPr>
            <a:spLocks noGrp="1"/>
          </p:cNvSpPr>
          <p:nvPr/>
        </p:nvSpPr>
        <p:spPr>
          <a:xfrm>
            <a:off x="438150" y="2857500"/>
            <a:ext cx="3286125" cy="209550"/>
          </a:xfrm>
          <a:prstGeom prst="rect">
            <a:avLst/>
          </a:prstGeom>
          <a:solidFill>
            <a:srgbClr val="C7C7C7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A8ABCA2-9C55-41D7-A344-B631A3E47341}"/>
              </a:ext>
            </a:extLst>
          </p:cNvPr>
          <p:cNvSpPr>
            <a:spLocks noGrp="1"/>
          </p:cNvSpPr>
          <p:nvPr/>
        </p:nvSpPr>
        <p:spPr>
          <a:xfrm>
            <a:off x="466725" y="2857500"/>
            <a:ext cx="34290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0">
                <a:solidFill>
                  <a:srgbClr val="111111"/>
                </a:solidFill>
                <a:latin typeface="Courier New"/>
                <a:ea typeface="Courier New"/>
                <a:cs typeface="Courier New"/>
              </a:defRPr>
            </a:pPr>
            <a:r>
              <a:rPr sz="750" b="0">
                <a:solidFill>
                  <a:srgbClr val="111111"/>
                </a:solidFill>
                <a:latin typeface="Courier New"/>
                <a:ea typeface="Courier New"/>
                <a:cs typeface="Courier New"/>
              </a:rPr>
              <a:t>12 de junho de 2026 · 15:00-15:40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8E7627B-E6E7-482B-9D9F-6F8FFFEA3A0F}"/>
              </a:ext>
            </a:extLst>
          </p:cNvPr>
          <p:cNvSpPr>
            <a:spLocks noGrp="1"/>
          </p:cNvSpPr>
          <p:nvPr/>
        </p:nvSpPr>
        <p:spPr>
          <a:xfrm>
            <a:off x="466725" y="3105150"/>
            <a:ext cx="2190750" cy="238125"/>
          </a:xfrm>
          <a:prstGeom prst="rect">
            <a:avLst/>
          </a:prstGeom>
          <a:solidFill>
            <a:srgbClr val="111111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85725" tIns="38100" rIns="85725" bIns="28575" anchor="t"/>
          <a:lstStyle/>
          <a:p>
            <a:pPr algn="l">
              <a:defRPr sz="900" b="1">
                <a:solidFill>
                  <a:srgbClr val="FFFFFF"/>
                </a:solidFill>
                <a:latin typeface="Courier New"/>
                <a:ea typeface="Courier New"/>
                <a:cs typeface="Courier New"/>
              </a:defRPr>
            </a:pPr>
            <a:r>
              <a:rPr sz="900" b="1">
                <a:solidFill>
                  <a:srgbClr val="FFFFFF"/>
                </a:solidFill>
                <a:latin typeface="Courier New"/>
                <a:ea typeface="Courier New"/>
                <a:cs typeface="Courier New"/>
              </a:rPr>
              <a:t>MVP CONF REGIONAL SOROCABA</a:t>
            </a:r>
          </a:p>
        </p:txBody>
      </p:sp>
    </p:spTree>
    <p:extLst>
      <p:ext uri="{BB962C8B-B14F-4D97-AF65-F5344CB8AC3E}">
        <p14:creationId xmlns:p14="http://schemas.microsoft.com/office/powerpoint/2010/main" val="62000204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Image 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3" y="-14395"/>
            <a:ext cx="9144000" cy="5384569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4388B052-403C-47F4-8796-BA5AC040DBD9}"/>
              </a:ext>
            </a:extLst>
          </p:cNvPr>
          <p:cNvSpPr>
            <a:spLocks noGrp="1"/>
          </p:cNvSpPr>
          <p:nvPr/>
        </p:nvSpPr>
        <p:spPr>
          <a:xfrm>
            <a:off x="457200" y="685800"/>
            <a:ext cx="3714750" cy="685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62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62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Sobre mim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CAAE115-366B-4A37-94C7-C1BD3B56F218}"/>
              </a:ext>
            </a:extLst>
          </p:cNvPr>
          <p:cNvSpPr>
            <a:spLocks noGrp="1"/>
          </p:cNvSpPr>
          <p:nvPr/>
        </p:nvSpPr>
        <p:spPr>
          <a:xfrm>
            <a:off x="457200" y="1390650"/>
            <a:ext cx="800100" cy="66675"/>
          </a:xfrm>
          <a:prstGeom prst="rect">
            <a:avLst/>
          </a:prstGeom>
          <a:solidFill>
            <a:srgbClr val="08B8C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B2BEAE4-3E19-4BD7-ABEB-3AA1E136AA8D}"/>
              </a:ext>
            </a:extLst>
          </p:cNvPr>
          <p:cNvSpPr>
            <a:spLocks noGrp="1"/>
          </p:cNvSpPr>
          <p:nvPr/>
        </p:nvSpPr>
        <p:spPr>
          <a:xfrm>
            <a:off x="4743449" y="914400"/>
            <a:ext cx="1566915" cy="1565999"/>
          </a:xfrm>
          <a:prstGeom prst="rect">
            <a:avLst/>
          </a:prstGeom>
          <a:blipFill dpi="0" rotWithShape="1">
            <a:blip r:embed="rId4"/>
            <a:srcRect/>
            <a:tile tx="0" ty="0" sx="20000" sy="20000" flip="none" algn="ctr"/>
          </a:blipFill>
          <a:ln w="28575">
            <a:solidFill>
              <a:srgbClr val="111111"/>
            </a:solidFill>
            <a:prstDash val="solid"/>
          </a:ln>
        </p:spPr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7D60214-B561-42D9-82E1-EF5A17E951D0}"/>
              </a:ext>
            </a:extLst>
          </p:cNvPr>
          <p:cNvSpPr>
            <a:spLocks noGrp="1"/>
          </p:cNvSpPr>
          <p:nvPr/>
        </p:nvSpPr>
        <p:spPr>
          <a:xfrm>
            <a:off x="457200" y="1619250"/>
            <a:ext cx="390525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87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Gustavo Bellini Bigardi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D2C2192-CD02-4435-A5C1-26D91F130D2D}"/>
              </a:ext>
            </a:extLst>
          </p:cNvPr>
          <p:cNvSpPr>
            <a:spLocks noGrp="1"/>
          </p:cNvSpPr>
          <p:nvPr/>
        </p:nvSpPr>
        <p:spPr>
          <a:xfrm>
            <a:off x="457200" y="2019300"/>
            <a:ext cx="3714750" cy="4572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lang="pt-BR" sz="1200" b="0" dirty="0">
                <a:solidFill>
                  <a:srgbClr val="111111"/>
                </a:solidFill>
                <a:latin typeface="Arial"/>
                <a:ea typeface="Arial"/>
                <a:cs typeface="Arial"/>
              </a:rPr>
              <a:t>CTO, </a:t>
            </a:r>
            <a:r>
              <a:rPr sz="1200" b="0" dirty="0" err="1">
                <a:solidFill>
                  <a:srgbClr val="111111"/>
                </a:solidFill>
                <a:latin typeface="Arial"/>
                <a:ea typeface="Arial"/>
                <a:cs typeface="Arial"/>
              </a:rPr>
              <a:t>Desenvolvedor</a:t>
            </a:r>
            <a:r>
              <a:rPr sz="1200" b="0" dirty="0">
                <a:solidFill>
                  <a:srgbClr val="111111"/>
                </a:solidFill>
                <a:latin typeface="Arial"/>
                <a:ea typeface="Arial"/>
                <a:cs typeface="Arial"/>
              </a:rPr>
              <a:t> .NET</a:t>
            </a:r>
            <a:r>
              <a:rPr lang="pt-BR" sz="1200" b="0" dirty="0">
                <a:solidFill>
                  <a:srgbClr val="111111"/>
                </a:solidFill>
                <a:latin typeface="Arial"/>
                <a:ea typeface="Arial"/>
                <a:cs typeface="Arial"/>
              </a:rPr>
              <a:t>, </a:t>
            </a:r>
            <a:r>
              <a:rPr sz="1200" b="0" dirty="0" err="1">
                <a:solidFill>
                  <a:srgbClr val="111111"/>
                </a:solidFill>
                <a:latin typeface="Arial"/>
                <a:ea typeface="Arial"/>
                <a:cs typeface="Arial"/>
              </a:rPr>
              <a:t>entusiasta</a:t>
            </a:r>
            <a:r>
              <a:rPr sz="1200" b="0" dirty="0">
                <a:solidFill>
                  <a:srgbClr val="111111"/>
                </a:solidFill>
                <a:latin typeface="Arial"/>
                <a:ea typeface="Arial"/>
                <a:cs typeface="Arial"/>
              </a:rPr>
              <a:t> de IA </a:t>
            </a:r>
            <a:r>
              <a:rPr sz="1200" b="0" dirty="0" err="1">
                <a:solidFill>
                  <a:srgbClr val="111111"/>
                </a:solidFill>
                <a:latin typeface="Arial"/>
                <a:ea typeface="Arial"/>
                <a:cs typeface="Arial"/>
              </a:rPr>
              <a:t>aplicada</a:t>
            </a:r>
            <a:r>
              <a:rPr sz="1200" b="0" dirty="0">
                <a:solidFill>
                  <a:srgbClr val="111111"/>
                </a:solidFill>
                <a:latin typeface="Arial"/>
                <a:ea typeface="Arial"/>
                <a:cs typeface="Arial"/>
              </a:rPr>
              <a:t> </a:t>
            </a:r>
            <a:r>
              <a:rPr sz="1200" b="0" dirty="0" err="1">
                <a:solidFill>
                  <a:srgbClr val="111111"/>
                </a:solidFill>
                <a:latin typeface="Arial"/>
                <a:ea typeface="Arial"/>
                <a:cs typeface="Arial"/>
              </a:rPr>
              <a:t>em</a:t>
            </a:r>
            <a:r>
              <a:rPr sz="1200" b="0" dirty="0">
                <a:solidFill>
                  <a:srgbClr val="111111"/>
                </a:solidFill>
                <a:latin typeface="Arial"/>
                <a:ea typeface="Arial"/>
                <a:cs typeface="Arial"/>
              </a:rPr>
              <a:t> </a:t>
            </a:r>
            <a:r>
              <a:rPr sz="1200" b="0" dirty="0" err="1">
                <a:solidFill>
                  <a:srgbClr val="111111"/>
                </a:solidFill>
                <a:latin typeface="Arial"/>
                <a:ea typeface="Arial"/>
                <a:cs typeface="Arial"/>
              </a:rPr>
              <a:t>produtos</a:t>
            </a:r>
            <a:r>
              <a:rPr sz="1200" b="0" dirty="0">
                <a:solidFill>
                  <a:srgbClr val="111111"/>
                </a:solidFill>
                <a:latin typeface="Arial"/>
                <a:ea typeface="Arial"/>
                <a:cs typeface="Arial"/>
              </a:rPr>
              <a:t> reais</a:t>
            </a:r>
            <a:r>
              <a:rPr lang="pt-BR" sz="1200" b="0" dirty="0">
                <a:solidFill>
                  <a:srgbClr val="111111"/>
                </a:solidFill>
                <a:latin typeface="Arial"/>
                <a:ea typeface="Arial"/>
                <a:cs typeface="Arial"/>
              </a:rPr>
              <a:t> e baterista nas horas vagas.</a:t>
            </a:r>
            <a:endParaRPr sz="1200" b="0" dirty="0">
              <a:solidFill>
                <a:srgbClr val="11111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F60DF9CC-EAB3-46BD-B94F-1795275FA998}"/>
              </a:ext>
            </a:extLst>
          </p:cNvPr>
          <p:cNvSpPr>
            <a:spLocks noGrp="1"/>
          </p:cNvSpPr>
          <p:nvPr/>
        </p:nvSpPr>
        <p:spPr>
          <a:xfrm>
            <a:off x="457200" y="2743200"/>
            <a:ext cx="1714500" cy="1123950"/>
          </a:xfrm>
          <a:prstGeom prst="rect">
            <a:avLst/>
          </a:prstGeom>
          <a:solidFill>
            <a:srgbClr val="000000">
              <a:alpha val="0"/>
            </a:srgbClr>
          </a:solidFill>
          <a:ln w="9525">
            <a:solidFill>
              <a:srgbClr val="111111"/>
            </a:solidFill>
            <a:prstDash val="solid"/>
          </a:ln>
        </p:spPr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A2CB32F-C056-49C5-970B-8A569B4B8B8C}"/>
              </a:ext>
            </a:extLst>
          </p:cNvPr>
          <p:cNvSpPr>
            <a:spLocks noGrp="1"/>
          </p:cNvSpPr>
          <p:nvPr/>
        </p:nvSpPr>
        <p:spPr>
          <a:xfrm>
            <a:off x="457200" y="2743200"/>
            <a:ext cx="76200" cy="1123950"/>
          </a:xfrm>
          <a:prstGeom prst="rect">
            <a:avLst/>
          </a:prstGeom>
          <a:solidFill>
            <a:srgbClr val="08B8C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4FB634B-C47E-4F51-B8C9-BE0392DEE7CA}"/>
              </a:ext>
            </a:extLst>
          </p:cNvPr>
          <p:cNvSpPr>
            <a:spLocks noGrp="1"/>
          </p:cNvSpPr>
          <p:nvPr/>
        </p:nvSpPr>
        <p:spPr>
          <a:xfrm>
            <a:off x="628650" y="2895600"/>
            <a:ext cx="14287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Stack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169D624-4788-44CE-ADBF-6E46B9372E1C}"/>
              </a:ext>
            </a:extLst>
          </p:cNvPr>
          <p:cNvSpPr>
            <a:spLocks noGrp="1"/>
          </p:cNvSpPr>
          <p:nvPr/>
        </p:nvSpPr>
        <p:spPr>
          <a:xfrm>
            <a:off x="628650" y="3181350"/>
            <a:ext cx="1409700" cy="590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975" b="0" dirty="0">
                <a:solidFill>
                  <a:srgbClr val="111111"/>
                </a:solidFill>
                <a:latin typeface="Arial"/>
                <a:ea typeface="Arial"/>
                <a:cs typeface="Arial"/>
              </a:rPr>
              <a:t>.NET · C# · Blazor</a:t>
            </a:r>
          </a:p>
          <a:p>
            <a:pPr>
              <a:defRPr sz="97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lang="en-BR" sz="975" dirty="0">
                <a:solidFill>
                  <a:srgbClr val="111111"/>
                </a:solidFill>
                <a:latin typeface="Arial"/>
                <a:ea typeface="Arial"/>
                <a:cs typeface="Arial"/>
              </a:rPr>
              <a:t>Node · React</a:t>
            </a:r>
          </a:p>
          <a:p>
            <a:pPr>
              <a:defRPr sz="97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lang="en-US" sz="975" dirty="0">
                <a:solidFill>
                  <a:srgbClr val="111111"/>
                </a:solidFill>
                <a:latin typeface="Arial"/>
                <a:ea typeface="Arial"/>
                <a:cs typeface="Arial"/>
              </a:rPr>
              <a:t>Azure</a:t>
            </a:r>
          </a:p>
          <a:p>
            <a:pPr>
              <a:defRPr sz="97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endParaRPr sz="975" b="0" dirty="0">
              <a:solidFill>
                <a:srgbClr val="11111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1AF01C16-3E85-42B7-81CA-CB0ADBF2313F}"/>
              </a:ext>
            </a:extLst>
          </p:cNvPr>
          <p:cNvSpPr>
            <a:spLocks noGrp="1"/>
          </p:cNvSpPr>
          <p:nvPr/>
        </p:nvSpPr>
        <p:spPr>
          <a:xfrm>
            <a:off x="2362200" y="2743200"/>
            <a:ext cx="1714500" cy="1123950"/>
          </a:xfrm>
          <a:prstGeom prst="rect">
            <a:avLst/>
          </a:prstGeom>
          <a:solidFill>
            <a:srgbClr val="000000">
              <a:alpha val="0"/>
            </a:srgbClr>
          </a:solidFill>
          <a:ln w="9525">
            <a:solidFill>
              <a:srgbClr val="111111"/>
            </a:solidFill>
            <a:prstDash val="solid"/>
          </a:ln>
        </p:spPr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134CFBFC-2287-4BC9-A9A3-BDF95C754727}"/>
              </a:ext>
            </a:extLst>
          </p:cNvPr>
          <p:cNvSpPr>
            <a:spLocks noGrp="1"/>
          </p:cNvSpPr>
          <p:nvPr/>
        </p:nvSpPr>
        <p:spPr>
          <a:xfrm>
            <a:off x="2362200" y="2743200"/>
            <a:ext cx="76200" cy="1123950"/>
          </a:xfrm>
          <a:prstGeom prst="rect">
            <a:avLst/>
          </a:prstGeom>
          <a:solidFill>
            <a:srgbClr val="08B8C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110AD611-262D-488F-A12B-DF052C9B7464}"/>
              </a:ext>
            </a:extLst>
          </p:cNvPr>
          <p:cNvSpPr>
            <a:spLocks noGrp="1"/>
          </p:cNvSpPr>
          <p:nvPr/>
        </p:nvSpPr>
        <p:spPr>
          <a:xfrm>
            <a:off x="2533650" y="2895600"/>
            <a:ext cx="14287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lang="pt-BR" sz="1200" b="1" dirty="0">
                <a:solidFill>
                  <a:srgbClr val="111111"/>
                </a:solidFill>
                <a:latin typeface="Arial"/>
                <a:ea typeface="Arial"/>
                <a:cs typeface="Arial"/>
              </a:rPr>
              <a:t>CTO</a:t>
            </a:r>
            <a:endParaRPr sz="1200" b="1" dirty="0">
              <a:solidFill>
                <a:srgbClr val="11111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3A212321-0A60-4991-8219-F11C42178978}"/>
              </a:ext>
            </a:extLst>
          </p:cNvPr>
          <p:cNvSpPr>
            <a:spLocks noGrp="1"/>
          </p:cNvSpPr>
          <p:nvPr/>
        </p:nvSpPr>
        <p:spPr>
          <a:xfrm>
            <a:off x="2533650" y="3181350"/>
            <a:ext cx="1409700" cy="590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lang="pt-BR" sz="975" b="0" dirty="0">
                <a:solidFill>
                  <a:srgbClr val="111111"/>
                </a:solidFill>
                <a:latin typeface="Arial"/>
                <a:ea typeface="Arial"/>
                <a:cs typeface="Arial"/>
              </a:rPr>
              <a:t>Trabalho como Consultor e CTO na </a:t>
            </a:r>
            <a:r>
              <a:rPr lang="pt-BR" sz="975" b="0" dirty="0" err="1">
                <a:solidFill>
                  <a:srgbClr val="111111"/>
                </a:solidFill>
                <a:latin typeface="Arial"/>
                <a:ea typeface="Arial"/>
                <a:cs typeface="Arial"/>
              </a:rPr>
              <a:t>Clarus</a:t>
            </a:r>
            <a:r>
              <a:rPr lang="pt-BR" sz="975" b="0" dirty="0">
                <a:solidFill>
                  <a:srgbClr val="111111"/>
                </a:solidFill>
                <a:latin typeface="Arial"/>
                <a:ea typeface="Arial"/>
                <a:cs typeface="Arial"/>
              </a:rPr>
              <a:t> IT</a:t>
            </a:r>
            <a:endParaRPr sz="975" b="0" dirty="0">
              <a:solidFill>
                <a:srgbClr val="111111"/>
              </a:solidFill>
              <a:latin typeface="Arial"/>
              <a:ea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34855286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Image 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085C926B-338C-4D01-866E-931838CDA05A}"/>
              </a:ext>
            </a:extLst>
          </p:cNvPr>
          <p:cNvSpPr>
            <a:spLocks noGrp="1"/>
          </p:cNvSpPr>
          <p:nvPr/>
        </p:nvSpPr>
        <p:spPr>
          <a:xfrm>
            <a:off x="457199" y="742950"/>
            <a:ext cx="7171509" cy="685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62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lang="en-US" sz="2625" b="1" dirty="0">
                <a:solidFill>
                  <a:srgbClr val="111111"/>
                </a:solidFill>
                <a:latin typeface="Arial"/>
                <a:ea typeface="Arial"/>
                <a:cs typeface="Arial"/>
              </a:rPr>
              <a:t>Workflows com Microsoft Agent Workflow</a:t>
            </a:r>
            <a:endParaRPr sz="2625" b="1" dirty="0">
              <a:solidFill>
                <a:srgbClr val="11111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9C28520-A74A-4682-AD43-96D040262FD1}"/>
              </a:ext>
            </a:extLst>
          </p:cNvPr>
          <p:cNvSpPr>
            <a:spLocks noGrp="1"/>
          </p:cNvSpPr>
          <p:nvPr/>
        </p:nvSpPr>
        <p:spPr>
          <a:xfrm>
            <a:off x="457200" y="1447800"/>
            <a:ext cx="800100" cy="66675"/>
          </a:xfrm>
          <a:prstGeom prst="rect">
            <a:avLst/>
          </a:prstGeom>
          <a:solidFill>
            <a:srgbClr val="08B8C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E24D692-D482-447F-9E53-DBFBA6FAA68F}"/>
              </a:ext>
            </a:extLst>
          </p:cNvPr>
          <p:cNvSpPr>
            <a:spLocks noGrp="1"/>
          </p:cNvSpPr>
          <p:nvPr/>
        </p:nvSpPr>
        <p:spPr>
          <a:xfrm>
            <a:off x="457200" y="1790700"/>
            <a:ext cx="7239000" cy="781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72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725" b="1" dirty="0">
                <a:solidFill>
                  <a:srgbClr val="111111"/>
                </a:solidFill>
                <a:latin typeface="Arial"/>
                <a:ea typeface="Arial"/>
                <a:cs typeface="Arial"/>
              </a:rPr>
              <a:t>Quando um </a:t>
            </a:r>
            <a:r>
              <a:rPr sz="1725" b="1" dirty="0" err="1">
                <a:solidFill>
                  <a:srgbClr val="111111"/>
                </a:solidFill>
                <a:latin typeface="Arial"/>
                <a:ea typeface="Arial"/>
                <a:cs typeface="Arial"/>
              </a:rPr>
              <a:t>agente</a:t>
            </a:r>
            <a:r>
              <a:rPr sz="1725" b="1" dirty="0">
                <a:solidFill>
                  <a:srgbClr val="111111"/>
                </a:solidFill>
                <a:latin typeface="Arial"/>
                <a:ea typeface="Arial"/>
                <a:cs typeface="Arial"/>
              </a:rPr>
              <a:t> </a:t>
            </a:r>
            <a:r>
              <a:rPr sz="1725" b="1" dirty="0" err="1">
                <a:solidFill>
                  <a:srgbClr val="111111"/>
                </a:solidFill>
                <a:latin typeface="Arial"/>
                <a:ea typeface="Arial"/>
                <a:cs typeface="Arial"/>
              </a:rPr>
              <a:t>sozinho</a:t>
            </a:r>
            <a:r>
              <a:rPr sz="1725" b="1" dirty="0">
                <a:solidFill>
                  <a:srgbClr val="111111"/>
                </a:solidFill>
                <a:latin typeface="Arial"/>
                <a:ea typeface="Arial"/>
                <a:cs typeface="Arial"/>
              </a:rPr>
              <a:t> </a:t>
            </a:r>
            <a:r>
              <a:rPr sz="1725" b="1" dirty="0" err="1">
                <a:solidFill>
                  <a:srgbClr val="111111"/>
                </a:solidFill>
                <a:latin typeface="Arial"/>
                <a:ea typeface="Arial"/>
                <a:cs typeface="Arial"/>
              </a:rPr>
              <a:t>vira</a:t>
            </a:r>
            <a:r>
              <a:rPr sz="1725" b="1" dirty="0">
                <a:solidFill>
                  <a:srgbClr val="111111"/>
                </a:solidFill>
                <a:latin typeface="Arial"/>
                <a:ea typeface="Arial"/>
                <a:cs typeface="Arial"/>
              </a:rPr>
              <a:t> </a:t>
            </a:r>
            <a:r>
              <a:rPr sz="1725" b="1" dirty="0" err="1">
                <a:solidFill>
                  <a:srgbClr val="111111"/>
                </a:solidFill>
                <a:latin typeface="Arial"/>
                <a:ea typeface="Arial"/>
                <a:cs typeface="Arial"/>
              </a:rPr>
              <a:t>gargalo</a:t>
            </a:r>
            <a:r>
              <a:rPr sz="1725" b="1" dirty="0">
                <a:solidFill>
                  <a:srgbClr val="111111"/>
                </a:solidFill>
                <a:latin typeface="Arial"/>
                <a:ea typeface="Arial"/>
                <a:cs typeface="Arial"/>
              </a:rPr>
              <a:t>, o workflow </a:t>
            </a:r>
            <a:r>
              <a:rPr sz="1725" b="1" dirty="0" err="1">
                <a:solidFill>
                  <a:srgbClr val="111111"/>
                </a:solidFill>
                <a:latin typeface="Arial"/>
                <a:ea typeface="Arial"/>
                <a:cs typeface="Arial"/>
              </a:rPr>
              <a:t>vira</a:t>
            </a:r>
            <a:r>
              <a:rPr sz="1725" b="1" dirty="0">
                <a:solidFill>
                  <a:srgbClr val="111111"/>
                </a:solidFill>
                <a:latin typeface="Arial"/>
                <a:ea typeface="Arial"/>
                <a:cs typeface="Arial"/>
              </a:rPr>
              <a:t> o </a:t>
            </a:r>
            <a:r>
              <a:rPr sz="1725" b="1" dirty="0" err="1">
                <a:solidFill>
                  <a:srgbClr val="111111"/>
                </a:solidFill>
                <a:latin typeface="Arial"/>
                <a:ea typeface="Arial"/>
                <a:cs typeface="Arial"/>
              </a:rPr>
              <a:t>contrato</a:t>
            </a:r>
            <a:r>
              <a:rPr sz="1725" b="1" dirty="0">
                <a:solidFill>
                  <a:srgbClr val="111111"/>
                </a:solidFill>
                <a:latin typeface="Arial"/>
                <a:ea typeface="Arial"/>
                <a:cs typeface="Arial"/>
              </a:rPr>
              <a:t>: </a:t>
            </a:r>
            <a:r>
              <a:rPr sz="1725" b="1" dirty="0" err="1">
                <a:solidFill>
                  <a:srgbClr val="111111"/>
                </a:solidFill>
                <a:latin typeface="Arial"/>
                <a:ea typeface="Arial"/>
                <a:cs typeface="Arial"/>
              </a:rPr>
              <a:t>ele</a:t>
            </a:r>
            <a:r>
              <a:rPr sz="1725" b="1" dirty="0">
                <a:solidFill>
                  <a:srgbClr val="111111"/>
                </a:solidFill>
                <a:latin typeface="Arial"/>
                <a:ea typeface="Arial"/>
                <a:cs typeface="Arial"/>
              </a:rPr>
              <a:t> define </a:t>
            </a:r>
            <a:r>
              <a:rPr sz="1725" b="1" dirty="0" err="1">
                <a:solidFill>
                  <a:srgbClr val="111111"/>
                </a:solidFill>
                <a:latin typeface="Arial"/>
                <a:ea typeface="Arial"/>
                <a:cs typeface="Arial"/>
              </a:rPr>
              <a:t>ordem</a:t>
            </a:r>
            <a:r>
              <a:rPr sz="1725" b="1" dirty="0">
                <a:solidFill>
                  <a:srgbClr val="111111"/>
                </a:solidFill>
                <a:latin typeface="Arial"/>
                <a:ea typeface="Arial"/>
                <a:cs typeface="Arial"/>
              </a:rPr>
              <a:t>, </a:t>
            </a:r>
            <a:r>
              <a:rPr sz="1725" b="1" dirty="0" err="1">
                <a:solidFill>
                  <a:srgbClr val="111111"/>
                </a:solidFill>
                <a:latin typeface="Arial"/>
                <a:ea typeface="Arial"/>
                <a:cs typeface="Arial"/>
              </a:rPr>
              <a:t>responsabilidade</a:t>
            </a:r>
            <a:r>
              <a:rPr sz="1725" b="1" dirty="0">
                <a:solidFill>
                  <a:srgbClr val="111111"/>
                </a:solidFill>
                <a:latin typeface="Arial"/>
                <a:ea typeface="Arial"/>
                <a:cs typeface="Arial"/>
              </a:rPr>
              <a:t>, </a:t>
            </a:r>
            <a:r>
              <a:rPr sz="1725" b="1" dirty="0" err="1">
                <a:solidFill>
                  <a:srgbClr val="111111"/>
                </a:solidFill>
                <a:latin typeface="Arial"/>
                <a:ea typeface="Arial"/>
                <a:cs typeface="Arial"/>
              </a:rPr>
              <a:t>estado</a:t>
            </a:r>
            <a:r>
              <a:rPr sz="1725" b="1" dirty="0">
                <a:solidFill>
                  <a:srgbClr val="111111"/>
                </a:solidFill>
                <a:latin typeface="Arial"/>
                <a:ea typeface="Arial"/>
                <a:cs typeface="Arial"/>
              </a:rPr>
              <a:t> e </a:t>
            </a:r>
            <a:r>
              <a:rPr sz="1725" b="1" dirty="0" err="1">
                <a:solidFill>
                  <a:srgbClr val="111111"/>
                </a:solidFill>
                <a:latin typeface="Arial"/>
                <a:ea typeface="Arial"/>
                <a:cs typeface="Arial"/>
              </a:rPr>
              <a:t>observabilidade</a:t>
            </a:r>
            <a:r>
              <a:rPr sz="1725" b="1" dirty="0">
                <a:solidFill>
                  <a:srgbClr val="111111"/>
                </a:solidFill>
                <a:latin typeface="Arial"/>
                <a:ea typeface="Arial"/>
                <a:cs typeface="Arial"/>
              </a:rPr>
              <a:t> para </a:t>
            </a:r>
            <a:r>
              <a:rPr sz="1725" b="1" dirty="0" err="1">
                <a:solidFill>
                  <a:srgbClr val="111111"/>
                </a:solidFill>
                <a:latin typeface="Arial"/>
                <a:ea typeface="Arial"/>
                <a:cs typeface="Arial"/>
              </a:rPr>
              <a:t>vários</a:t>
            </a:r>
            <a:r>
              <a:rPr sz="1725" b="1" dirty="0">
                <a:solidFill>
                  <a:srgbClr val="111111"/>
                </a:solidFill>
                <a:latin typeface="Arial"/>
                <a:ea typeface="Arial"/>
                <a:cs typeface="Arial"/>
              </a:rPr>
              <a:t> </a:t>
            </a:r>
            <a:r>
              <a:rPr sz="1725" b="1" dirty="0" err="1">
                <a:solidFill>
                  <a:srgbClr val="111111"/>
                </a:solidFill>
                <a:latin typeface="Arial"/>
                <a:ea typeface="Arial"/>
                <a:cs typeface="Arial"/>
              </a:rPr>
              <a:t>agentes</a:t>
            </a:r>
            <a:r>
              <a:rPr sz="1725" b="1" dirty="0">
                <a:solidFill>
                  <a:srgbClr val="111111"/>
                </a:solidFill>
                <a:latin typeface="Arial"/>
                <a:ea typeface="Arial"/>
                <a:cs typeface="Arial"/>
              </a:rPr>
              <a:t> </a:t>
            </a:r>
            <a:r>
              <a:rPr sz="1725" b="1" dirty="0" err="1">
                <a:solidFill>
                  <a:srgbClr val="111111"/>
                </a:solidFill>
                <a:latin typeface="Arial"/>
                <a:ea typeface="Arial"/>
                <a:cs typeface="Arial"/>
              </a:rPr>
              <a:t>colaborarem</a:t>
            </a:r>
            <a:r>
              <a:rPr sz="1725" b="1" dirty="0">
                <a:solidFill>
                  <a:srgbClr val="111111"/>
                </a:solidFill>
                <a:latin typeface="Arial"/>
                <a:ea typeface="Arial"/>
                <a:cs typeface="Arial"/>
              </a:rPr>
              <a:t>.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A7655E0-ABCE-416A-B11A-5591F01149E3}"/>
              </a:ext>
            </a:extLst>
          </p:cNvPr>
          <p:cNvSpPr>
            <a:spLocks noGrp="1"/>
          </p:cNvSpPr>
          <p:nvPr/>
        </p:nvSpPr>
        <p:spPr>
          <a:xfrm>
            <a:off x="457200" y="3000375"/>
            <a:ext cx="2266950" cy="952500"/>
          </a:xfrm>
          <a:prstGeom prst="rect">
            <a:avLst/>
          </a:prstGeom>
          <a:solidFill>
            <a:srgbClr val="000000">
              <a:alpha val="0"/>
            </a:srgbClr>
          </a:solidFill>
          <a:ln w="9525">
            <a:solidFill>
              <a:srgbClr val="111111"/>
            </a:solidFill>
            <a:prstDash val="solid"/>
          </a:ln>
        </p:spPr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DE64D5D-8420-4A26-B11B-253A707B1E69}"/>
              </a:ext>
            </a:extLst>
          </p:cNvPr>
          <p:cNvSpPr>
            <a:spLocks noGrp="1"/>
          </p:cNvSpPr>
          <p:nvPr/>
        </p:nvSpPr>
        <p:spPr>
          <a:xfrm>
            <a:off x="457200" y="3000375"/>
            <a:ext cx="76200" cy="952500"/>
          </a:xfrm>
          <a:prstGeom prst="rect">
            <a:avLst/>
          </a:prstGeom>
          <a:solidFill>
            <a:srgbClr val="08B8C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715E98E0-D604-40FE-B4E6-B60D0AD43D57}"/>
              </a:ext>
            </a:extLst>
          </p:cNvPr>
          <p:cNvSpPr>
            <a:spLocks noGrp="1"/>
          </p:cNvSpPr>
          <p:nvPr/>
        </p:nvSpPr>
        <p:spPr>
          <a:xfrm>
            <a:off x="628650" y="3152775"/>
            <a:ext cx="19812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Agentes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9B96E217-9DE8-4912-A23C-4A43D3FEF310}"/>
              </a:ext>
            </a:extLst>
          </p:cNvPr>
          <p:cNvSpPr>
            <a:spLocks noGrp="1"/>
          </p:cNvSpPr>
          <p:nvPr/>
        </p:nvSpPr>
        <p:spPr>
          <a:xfrm>
            <a:off x="628650" y="3438525"/>
            <a:ext cx="1962150" cy="419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Especialistas que raciocinam, usam ferramentas e produzem decisões intermediárias.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44B748DF-273B-4EAC-8613-64A158B4D55A}"/>
              </a:ext>
            </a:extLst>
          </p:cNvPr>
          <p:cNvSpPr>
            <a:spLocks noGrp="1"/>
          </p:cNvSpPr>
          <p:nvPr/>
        </p:nvSpPr>
        <p:spPr>
          <a:xfrm>
            <a:off x="3048000" y="3000375"/>
            <a:ext cx="2266950" cy="952500"/>
          </a:xfrm>
          <a:prstGeom prst="rect">
            <a:avLst/>
          </a:prstGeom>
          <a:solidFill>
            <a:srgbClr val="000000">
              <a:alpha val="0"/>
            </a:srgbClr>
          </a:solidFill>
          <a:ln w="9525">
            <a:solidFill>
              <a:srgbClr val="111111"/>
            </a:solidFill>
            <a:prstDash val="solid"/>
          </a:ln>
        </p:spPr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C9F5C8C8-B998-4489-BBBE-EC7FADE603E0}"/>
              </a:ext>
            </a:extLst>
          </p:cNvPr>
          <p:cNvSpPr>
            <a:spLocks noGrp="1"/>
          </p:cNvSpPr>
          <p:nvPr/>
        </p:nvSpPr>
        <p:spPr>
          <a:xfrm>
            <a:off x="3048000" y="3000375"/>
            <a:ext cx="76200" cy="952500"/>
          </a:xfrm>
          <a:prstGeom prst="rect">
            <a:avLst/>
          </a:prstGeom>
          <a:solidFill>
            <a:srgbClr val="08B8C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A25B38FA-AEC7-4A15-AACB-B3A92862E04D}"/>
              </a:ext>
            </a:extLst>
          </p:cNvPr>
          <p:cNvSpPr>
            <a:spLocks noGrp="1"/>
          </p:cNvSpPr>
          <p:nvPr/>
        </p:nvSpPr>
        <p:spPr>
          <a:xfrm>
            <a:off x="3219450" y="3152775"/>
            <a:ext cx="19812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Workflow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28770F94-7484-42B0-BD2C-6D8E22B8ED60}"/>
              </a:ext>
            </a:extLst>
          </p:cNvPr>
          <p:cNvSpPr>
            <a:spLocks noGrp="1"/>
          </p:cNvSpPr>
          <p:nvPr/>
        </p:nvSpPr>
        <p:spPr>
          <a:xfrm>
            <a:off x="3219450" y="3438525"/>
            <a:ext cx="1962150" cy="419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A malha que coordena execução, mensagens, estado e pontos de controle.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B612F537-45E8-419F-96F9-F69042137883}"/>
              </a:ext>
            </a:extLst>
          </p:cNvPr>
          <p:cNvSpPr>
            <a:spLocks noGrp="1"/>
          </p:cNvSpPr>
          <p:nvPr/>
        </p:nvSpPr>
        <p:spPr>
          <a:xfrm>
            <a:off x="5638800" y="3000375"/>
            <a:ext cx="2266950" cy="952500"/>
          </a:xfrm>
          <a:prstGeom prst="rect">
            <a:avLst/>
          </a:prstGeom>
          <a:solidFill>
            <a:srgbClr val="000000">
              <a:alpha val="0"/>
            </a:srgbClr>
          </a:solidFill>
          <a:ln w="9525">
            <a:solidFill>
              <a:srgbClr val="111111"/>
            </a:solidFill>
            <a:prstDash val="solid"/>
          </a:ln>
        </p:spPr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3443E1C-7765-4CA7-9041-D7D182CDD392}"/>
              </a:ext>
            </a:extLst>
          </p:cNvPr>
          <p:cNvSpPr>
            <a:spLocks noGrp="1"/>
          </p:cNvSpPr>
          <p:nvPr/>
        </p:nvSpPr>
        <p:spPr>
          <a:xfrm>
            <a:off x="5638800" y="3000375"/>
            <a:ext cx="76200" cy="952500"/>
          </a:xfrm>
          <a:prstGeom prst="rect">
            <a:avLst/>
          </a:prstGeom>
          <a:solidFill>
            <a:srgbClr val="08B8C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43F8096C-3930-4556-9EEF-73287120D282}"/>
              </a:ext>
            </a:extLst>
          </p:cNvPr>
          <p:cNvSpPr>
            <a:spLocks noGrp="1"/>
          </p:cNvSpPr>
          <p:nvPr/>
        </p:nvSpPr>
        <p:spPr>
          <a:xfrm>
            <a:off x="5810250" y="3152775"/>
            <a:ext cx="19812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Experiência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DE6B0E32-00DF-428D-8C2F-54702747DBFF}"/>
              </a:ext>
            </a:extLst>
          </p:cNvPr>
          <p:cNvSpPr>
            <a:spLocks noGrp="1"/>
          </p:cNvSpPr>
          <p:nvPr/>
        </p:nvSpPr>
        <p:spPr>
          <a:xfrm>
            <a:off x="5810250" y="3438525"/>
            <a:ext cx="1962150" cy="419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Blazor expõe progresso, revisão humana e resultado final de forma previsível.</a:t>
            </a:r>
          </a:p>
        </p:txBody>
      </p:sp>
    </p:spTree>
    <p:extLst>
      <p:ext uri="{BB962C8B-B14F-4D97-AF65-F5344CB8AC3E}">
        <p14:creationId xmlns:p14="http://schemas.microsoft.com/office/powerpoint/2010/main" val="61016596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Image 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BD0C1E9A-CEBF-4AE2-90AE-3174704EE281}"/>
              </a:ext>
            </a:extLst>
          </p:cNvPr>
          <p:cNvSpPr>
            <a:spLocks noGrp="1"/>
          </p:cNvSpPr>
          <p:nvPr/>
        </p:nvSpPr>
        <p:spPr>
          <a:xfrm>
            <a:off x="457199" y="666750"/>
            <a:ext cx="4767943" cy="685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62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625" b="1" dirty="0">
                <a:solidFill>
                  <a:srgbClr val="111111"/>
                </a:solidFill>
                <a:latin typeface="Arial"/>
                <a:ea typeface="Arial"/>
                <a:cs typeface="Arial"/>
              </a:rPr>
              <a:t>O </a:t>
            </a:r>
            <a:r>
              <a:rPr sz="2625" b="1" dirty="0" err="1">
                <a:solidFill>
                  <a:srgbClr val="111111"/>
                </a:solidFill>
                <a:latin typeface="Arial"/>
                <a:ea typeface="Arial"/>
                <a:cs typeface="Arial"/>
              </a:rPr>
              <a:t>problema</a:t>
            </a:r>
            <a:r>
              <a:rPr lang="pt-BR" sz="2625" b="1" dirty="0">
                <a:solidFill>
                  <a:srgbClr val="111111"/>
                </a:solidFill>
                <a:latin typeface="Arial"/>
                <a:ea typeface="Arial"/>
                <a:cs typeface="Arial"/>
              </a:rPr>
              <a:t> (sempre tem um)</a:t>
            </a:r>
            <a:endParaRPr sz="2625" b="1" dirty="0">
              <a:solidFill>
                <a:srgbClr val="11111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A9566FB-71C1-4C1C-83CC-410F0DF576F4}"/>
              </a:ext>
            </a:extLst>
          </p:cNvPr>
          <p:cNvSpPr>
            <a:spLocks noGrp="1"/>
          </p:cNvSpPr>
          <p:nvPr/>
        </p:nvSpPr>
        <p:spPr>
          <a:xfrm>
            <a:off x="457200" y="1371600"/>
            <a:ext cx="800100" cy="66675"/>
          </a:xfrm>
          <a:prstGeom prst="rect">
            <a:avLst/>
          </a:prstGeom>
          <a:solidFill>
            <a:srgbClr val="08B8C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7E1EE00-828B-45BF-825B-361DD2095935}"/>
              </a:ext>
            </a:extLst>
          </p:cNvPr>
          <p:cNvSpPr>
            <a:spLocks noGrp="1"/>
          </p:cNvSpPr>
          <p:nvPr/>
        </p:nvSpPr>
        <p:spPr>
          <a:xfrm>
            <a:off x="457200" y="1619250"/>
            <a:ext cx="5381625" cy="42862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72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725" b="1" dirty="0" err="1">
                <a:solidFill>
                  <a:srgbClr val="111111"/>
                </a:solidFill>
                <a:latin typeface="Arial"/>
                <a:ea typeface="Arial"/>
                <a:cs typeface="Arial"/>
              </a:rPr>
              <a:t>Colocar</a:t>
            </a:r>
            <a:r>
              <a:rPr sz="1725" b="1" dirty="0">
                <a:solidFill>
                  <a:srgbClr val="111111"/>
                </a:solidFill>
                <a:latin typeface="Arial"/>
                <a:ea typeface="Arial"/>
                <a:cs typeface="Arial"/>
              </a:rPr>
              <a:t> IA no </a:t>
            </a:r>
            <a:r>
              <a:rPr sz="1725" b="1" dirty="0" err="1">
                <a:solidFill>
                  <a:srgbClr val="111111"/>
                </a:solidFill>
                <a:latin typeface="Arial"/>
                <a:ea typeface="Arial"/>
                <a:cs typeface="Arial"/>
              </a:rPr>
              <a:t>caminho</a:t>
            </a:r>
            <a:r>
              <a:rPr sz="1725" b="1" dirty="0">
                <a:solidFill>
                  <a:srgbClr val="111111"/>
                </a:solidFill>
                <a:latin typeface="Arial"/>
                <a:ea typeface="Arial"/>
                <a:cs typeface="Arial"/>
              </a:rPr>
              <a:t> </a:t>
            </a:r>
            <a:r>
              <a:rPr sz="1725" b="1" dirty="0" err="1">
                <a:solidFill>
                  <a:srgbClr val="111111"/>
                </a:solidFill>
                <a:latin typeface="Arial"/>
                <a:ea typeface="Arial"/>
                <a:cs typeface="Arial"/>
              </a:rPr>
              <a:t>crítico</a:t>
            </a:r>
            <a:r>
              <a:rPr sz="1725" b="1" dirty="0">
                <a:solidFill>
                  <a:srgbClr val="111111"/>
                </a:solidFill>
                <a:latin typeface="Arial"/>
                <a:ea typeface="Arial"/>
                <a:cs typeface="Arial"/>
              </a:rPr>
              <a:t> </a:t>
            </a:r>
            <a:r>
              <a:rPr sz="1725" b="1" dirty="0" err="1">
                <a:solidFill>
                  <a:srgbClr val="111111"/>
                </a:solidFill>
                <a:latin typeface="Arial"/>
                <a:ea typeface="Arial"/>
                <a:cs typeface="Arial"/>
              </a:rPr>
              <a:t>sem</a:t>
            </a:r>
            <a:r>
              <a:rPr sz="1725" b="1" dirty="0">
                <a:solidFill>
                  <a:srgbClr val="111111"/>
                </a:solidFill>
                <a:latin typeface="Arial"/>
                <a:ea typeface="Arial"/>
                <a:cs typeface="Arial"/>
              </a:rPr>
              <a:t> </a:t>
            </a:r>
            <a:r>
              <a:rPr sz="1725" b="1" dirty="0" err="1">
                <a:solidFill>
                  <a:srgbClr val="111111"/>
                </a:solidFill>
                <a:latin typeface="Arial"/>
                <a:ea typeface="Arial"/>
                <a:cs typeface="Arial"/>
              </a:rPr>
              <a:t>perder</a:t>
            </a:r>
            <a:r>
              <a:rPr sz="1725" b="1" dirty="0">
                <a:solidFill>
                  <a:srgbClr val="111111"/>
                </a:solidFill>
                <a:latin typeface="Arial"/>
                <a:ea typeface="Arial"/>
                <a:cs typeface="Arial"/>
              </a:rPr>
              <a:t> </a:t>
            </a:r>
            <a:r>
              <a:rPr sz="1725" b="1" dirty="0" err="1">
                <a:solidFill>
                  <a:srgbClr val="111111"/>
                </a:solidFill>
                <a:latin typeface="Arial"/>
                <a:ea typeface="Arial"/>
                <a:cs typeface="Arial"/>
              </a:rPr>
              <a:t>controle</a:t>
            </a:r>
            <a:r>
              <a:rPr sz="1725" b="1" dirty="0">
                <a:solidFill>
                  <a:srgbClr val="111111"/>
                </a:solidFill>
                <a:latin typeface="Arial"/>
                <a:ea typeface="Arial"/>
                <a:cs typeface="Arial"/>
              </a:rPr>
              <a:t>.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F77D2A6-99AD-49DF-B901-33318C99A1C6}"/>
              </a:ext>
            </a:extLst>
          </p:cNvPr>
          <p:cNvSpPr>
            <a:spLocks noGrp="1"/>
          </p:cNvSpPr>
          <p:nvPr/>
        </p:nvSpPr>
        <p:spPr>
          <a:xfrm>
            <a:off x="457200" y="2361657"/>
            <a:ext cx="152400" cy="152400"/>
          </a:xfrm>
          <a:prstGeom prst="rect">
            <a:avLst/>
          </a:prstGeom>
          <a:solidFill>
            <a:srgbClr val="08B8C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BDF1AF5-9A25-4965-BD0E-4AE72B08E2E4}"/>
              </a:ext>
            </a:extLst>
          </p:cNvPr>
          <p:cNvSpPr>
            <a:spLocks noGrp="1"/>
          </p:cNvSpPr>
          <p:nvPr/>
        </p:nvSpPr>
        <p:spPr>
          <a:xfrm>
            <a:off x="742950" y="2333625"/>
            <a:ext cx="49530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200" b="0" dirty="0">
                <a:solidFill>
                  <a:srgbClr val="111111"/>
                </a:solidFill>
                <a:latin typeface="Arial"/>
                <a:ea typeface="Arial"/>
                <a:cs typeface="Arial"/>
              </a:rPr>
              <a:t>Caixa-preta: </a:t>
            </a:r>
            <a:r>
              <a:rPr sz="1200" b="0" dirty="0" err="1">
                <a:solidFill>
                  <a:srgbClr val="111111"/>
                </a:solidFill>
                <a:latin typeface="Arial"/>
                <a:ea typeface="Arial"/>
                <a:cs typeface="Arial"/>
              </a:rPr>
              <a:t>não</a:t>
            </a:r>
            <a:r>
              <a:rPr sz="1200" b="0" dirty="0">
                <a:solidFill>
                  <a:srgbClr val="111111"/>
                </a:solidFill>
                <a:latin typeface="Arial"/>
                <a:ea typeface="Arial"/>
                <a:cs typeface="Arial"/>
              </a:rPr>
              <a:t> sei qual </a:t>
            </a:r>
            <a:r>
              <a:rPr sz="1200" b="0" dirty="0" err="1">
                <a:solidFill>
                  <a:srgbClr val="111111"/>
                </a:solidFill>
                <a:latin typeface="Arial"/>
                <a:ea typeface="Arial"/>
                <a:cs typeface="Arial"/>
              </a:rPr>
              <a:t>etapa</a:t>
            </a:r>
            <a:r>
              <a:rPr sz="1200" b="0" dirty="0">
                <a:solidFill>
                  <a:srgbClr val="111111"/>
                </a:solidFill>
                <a:latin typeface="Arial"/>
                <a:ea typeface="Arial"/>
                <a:cs typeface="Arial"/>
              </a:rPr>
              <a:t> </a:t>
            </a:r>
            <a:r>
              <a:rPr sz="1200" b="0" dirty="0" err="1">
                <a:solidFill>
                  <a:srgbClr val="111111"/>
                </a:solidFill>
                <a:latin typeface="Arial"/>
                <a:ea typeface="Arial"/>
                <a:cs typeface="Arial"/>
              </a:rPr>
              <a:t>falhou</a:t>
            </a:r>
            <a:r>
              <a:rPr sz="1200" b="0" dirty="0">
                <a:solidFill>
                  <a:srgbClr val="111111"/>
                </a:solidFill>
                <a:latin typeface="Arial"/>
                <a:ea typeface="Arial"/>
                <a:cs typeface="Arial"/>
              </a:rPr>
              <a:t> </a:t>
            </a:r>
            <a:r>
              <a:rPr sz="1200" b="0" dirty="0" err="1">
                <a:solidFill>
                  <a:srgbClr val="111111"/>
                </a:solidFill>
                <a:latin typeface="Arial"/>
                <a:ea typeface="Arial"/>
                <a:cs typeface="Arial"/>
              </a:rPr>
              <a:t>nem</a:t>
            </a:r>
            <a:r>
              <a:rPr sz="1200" b="0" dirty="0">
                <a:solidFill>
                  <a:srgbClr val="111111"/>
                </a:solidFill>
                <a:latin typeface="Arial"/>
                <a:ea typeface="Arial"/>
                <a:cs typeface="Arial"/>
              </a:rPr>
              <a:t> </a:t>
            </a:r>
            <a:r>
              <a:rPr sz="1200" b="0" dirty="0" err="1">
                <a:solidFill>
                  <a:srgbClr val="111111"/>
                </a:solidFill>
                <a:latin typeface="Arial"/>
                <a:ea typeface="Arial"/>
                <a:cs typeface="Arial"/>
              </a:rPr>
              <a:t>por</a:t>
            </a:r>
            <a:r>
              <a:rPr sz="1200" b="0" dirty="0">
                <a:solidFill>
                  <a:srgbClr val="111111"/>
                </a:solidFill>
                <a:latin typeface="Arial"/>
                <a:ea typeface="Arial"/>
                <a:cs typeface="Arial"/>
              </a:rPr>
              <a:t> </a:t>
            </a:r>
            <a:r>
              <a:rPr sz="1200" b="0" dirty="0" err="1">
                <a:solidFill>
                  <a:srgbClr val="111111"/>
                </a:solidFill>
                <a:latin typeface="Arial"/>
                <a:ea typeface="Arial"/>
                <a:cs typeface="Arial"/>
              </a:rPr>
              <a:t>quê</a:t>
            </a:r>
            <a:endParaRPr sz="1200" b="0" dirty="0">
              <a:solidFill>
                <a:srgbClr val="11111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A885587C-EB28-4F39-B885-A78314565E76}"/>
              </a:ext>
            </a:extLst>
          </p:cNvPr>
          <p:cNvSpPr>
            <a:spLocks noGrp="1"/>
          </p:cNvSpPr>
          <p:nvPr/>
        </p:nvSpPr>
        <p:spPr>
          <a:xfrm>
            <a:off x="457200" y="2856957"/>
            <a:ext cx="152400" cy="152400"/>
          </a:xfrm>
          <a:prstGeom prst="rect">
            <a:avLst/>
          </a:prstGeom>
          <a:solidFill>
            <a:srgbClr val="08B8C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B204ABE0-22CA-44FF-912D-5D27FDC3AB07}"/>
              </a:ext>
            </a:extLst>
          </p:cNvPr>
          <p:cNvSpPr>
            <a:spLocks noGrp="1"/>
          </p:cNvSpPr>
          <p:nvPr/>
        </p:nvSpPr>
        <p:spPr>
          <a:xfrm>
            <a:off x="742950" y="2828925"/>
            <a:ext cx="49530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Acoplamento: um prompt gigante tenta fazer o trabalho de um time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1744B56-CCF9-4420-9609-EC812E1DB989}"/>
              </a:ext>
            </a:extLst>
          </p:cNvPr>
          <p:cNvSpPr>
            <a:spLocks noGrp="1"/>
          </p:cNvSpPr>
          <p:nvPr/>
        </p:nvSpPr>
        <p:spPr>
          <a:xfrm>
            <a:off x="457200" y="3352257"/>
            <a:ext cx="152400" cy="152400"/>
          </a:xfrm>
          <a:prstGeom prst="rect">
            <a:avLst/>
          </a:prstGeom>
          <a:solidFill>
            <a:srgbClr val="08B8C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929009C3-8A18-48B7-9B28-3E69E34074FB}"/>
              </a:ext>
            </a:extLst>
          </p:cNvPr>
          <p:cNvSpPr>
            <a:spLocks noGrp="1"/>
          </p:cNvSpPr>
          <p:nvPr/>
        </p:nvSpPr>
        <p:spPr>
          <a:xfrm>
            <a:off x="742950" y="3324225"/>
            <a:ext cx="49530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Retrabalho: cada feature recria logging, estado e retry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0E66829C-754E-4572-8F53-3792894D18E6}"/>
              </a:ext>
            </a:extLst>
          </p:cNvPr>
          <p:cNvSpPr>
            <a:spLocks noGrp="1"/>
          </p:cNvSpPr>
          <p:nvPr/>
        </p:nvSpPr>
        <p:spPr>
          <a:xfrm>
            <a:off x="457200" y="3847557"/>
            <a:ext cx="152400" cy="152400"/>
          </a:xfrm>
          <a:prstGeom prst="rect">
            <a:avLst/>
          </a:prstGeom>
          <a:solidFill>
            <a:srgbClr val="08B8C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FAEF790B-EA64-44F6-AA9D-3C48E700807E}"/>
              </a:ext>
            </a:extLst>
          </p:cNvPr>
          <p:cNvSpPr>
            <a:spLocks noGrp="1"/>
          </p:cNvSpPr>
          <p:nvPr/>
        </p:nvSpPr>
        <p:spPr>
          <a:xfrm>
            <a:off x="742950" y="3819525"/>
            <a:ext cx="49530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UX frágil: o usuário só vê 'pensando...' até o fim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EFD843B2-5C80-4AAB-94CF-1565B024406A}"/>
              </a:ext>
            </a:extLst>
          </p:cNvPr>
          <p:cNvSpPr>
            <a:spLocks noGrp="1"/>
          </p:cNvSpPr>
          <p:nvPr/>
        </p:nvSpPr>
        <p:spPr>
          <a:xfrm>
            <a:off x="5838825" y="3324225"/>
            <a:ext cx="1877786" cy="695325"/>
          </a:xfrm>
          <a:prstGeom prst="rect">
            <a:avLst/>
          </a:prstGeom>
          <a:solidFill>
            <a:srgbClr val="ECECEC"/>
          </a:solidFill>
          <a:ln w="9525">
            <a:solidFill>
              <a:srgbClr val="08B8C8"/>
            </a:solidFill>
            <a:prstDash val="solid"/>
          </a:ln>
        </p:spPr>
        <p:txBody>
          <a:bodyPr lIns="114300" tIns="85725" rIns="114300" bIns="85725" anchor="ctr"/>
          <a:lstStyle/>
          <a:p>
            <a:pPr algn="l">
              <a:defRPr sz="97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Workflow é uma resposta de engenharia: separa intenção, etapas, agentes e telemetria.</a:t>
            </a:r>
          </a:p>
        </p:txBody>
      </p:sp>
    </p:spTree>
    <p:extLst>
      <p:ext uri="{BB962C8B-B14F-4D97-AF65-F5344CB8AC3E}">
        <p14:creationId xmlns:p14="http://schemas.microsoft.com/office/powerpoint/2010/main" val="134855286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Image 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779E2F31-1B54-40FB-A643-3339197E2ED9}"/>
              </a:ext>
            </a:extLst>
          </p:cNvPr>
          <p:cNvSpPr>
            <a:spLocks noGrp="1"/>
          </p:cNvSpPr>
          <p:nvPr/>
        </p:nvSpPr>
        <p:spPr>
          <a:xfrm>
            <a:off x="457200" y="666750"/>
            <a:ext cx="4381500" cy="685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62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62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Agente ou workflow?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2B88CC3-B57D-4A3D-A2DF-F35322FB3A48}"/>
              </a:ext>
            </a:extLst>
          </p:cNvPr>
          <p:cNvSpPr>
            <a:spLocks noGrp="1"/>
          </p:cNvSpPr>
          <p:nvPr/>
        </p:nvSpPr>
        <p:spPr>
          <a:xfrm>
            <a:off x="457200" y="1371600"/>
            <a:ext cx="800100" cy="66675"/>
          </a:xfrm>
          <a:prstGeom prst="rect">
            <a:avLst/>
          </a:prstGeom>
          <a:solidFill>
            <a:srgbClr val="08B8C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30B24A0-571D-46D8-ACB1-F036DE9DBC66}"/>
              </a:ext>
            </a:extLst>
          </p:cNvPr>
          <p:cNvSpPr>
            <a:spLocks noGrp="1"/>
          </p:cNvSpPr>
          <p:nvPr/>
        </p:nvSpPr>
        <p:spPr>
          <a:xfrm>
            <a:off x="523875" y="1619250"/>
            <a:ext cx="3429000" cy="1809750"/>
          </a:xfrm>
          <a:prstGeom prst="rect">
            <a:avLst/>
          </a:prstGeom>
          <a:solidFill>
            <a:srgbClr val="000000">
              <a:alpha val="0"/>
            </a:srgbClr>
          </a:solidFill>
          <a:ln w="9525">
            <a:solidFill>
              <a:srgbClr val="111111"/>
            </a:solidFill>
            <a:prstDash val="solid"/>
          </a:ln>
        </p:spPr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0F11652-C276-49EF-B934-A52E425E8D18}"/>
              </a:ext>
            </a:extLst>
          </p:cNvPr>
          <p:cNvSpPr>
            <a:spLocks noGrp="1"/>
          </p:cNvSpPr>
          <p:nvPr/>
        </p:nvSpPr>
        <p:spPr>
          <a:xfrm>
            <a:off x="523875" y="1619250"/>
            <a:ext cx="76200" cy="1809750"/>
          </a:xfrm>
          <a:prstGeom prst="rect">
            <a:avLst/>
          </a:prstGeom>
          <a:solidFill>
            <a:srgbClr val="111111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9DEE9A1-44C3-4704-90DA-CC8092E57B56}"/>
              </a:ext>
            </a:extLst>
          </p:cNvPr>
          <p:cNvSpPr>
            <a:spLocks noGrp="1"/>
          </p:cNvSpPr>
          <p:nvPr/>
        </p:nvSpPr>
        <p:spPr>
          <a:xfrm>
            <a:off x="695325" y="1771650"/>
            <a:ext cx="31432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Use agente quando...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A91782CC-98A8-4865-86FD-2B2110BD4597}"/>
              </a:ext>
            </a:extLst>
          </p:cNvPr>
          <p:cNvSpPr>
            <a:spLocks noGrp="1"/>
          </p:cNvSpPr>
          <p:nvPr/>
        </p:nvSpPr>
        <p:spPr>
          <a:xfrm>
            <a:off x="695325" y="2057400"/>
            <a:ext cx="3124200" cy="1276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A tarefa é aberta, conversacional ou exploratória.</a:t>
            </a:r>
          </a:p>
          <a:p>
            <a:endParaRPr sz="975" b="0">
              <a:solidFill>
                <a:srgbClr val="111111"/>
              </a:solidFill>
              <a:latin typeface="Arial"/>
              <a:ea typeface="Arial"/>
              <a:cs typeface="Arial"/>
            </a:endParaRPr>
          </a:p>
          <a:p>
            <a:pPr algn="l">
              <a:defRPr sz="97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O modelo pode planejar, chamar ferramentas e responder com autonomia controlada.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5070327-F31F-4D93-A78E-317A86CE6137}"/>
              </a:ext>
            </a:extLst>
          </p:cNvPr>
          <p:cNvSpPr>
            <a:spLocks noGrp="1"/>
          </p:cNvSpPr>
          <p:nvPr/>
        </p:nvSpPr>
        <p:spPr>
          <a:xfrm>
            <a:off x="4476750" y="1619250"/>
            <a:ext cx="3429000" cy="1809750"/>
          </a:xfrm>
          <a:prstGeom prst="rect">
            <a:avLst/>
          </a:prstGeom>
          <a:solidFill>
            <a:srgbClr val="000000">
              <a:alpha val="0"/>
            </a:srgbClr>
          </a:solidFill>
          <a:ln w="9525">
            <a:solidFill>
              <a:srgbClr val="111111"/>
            </a:solidFill>
            <a:prstDash val="solid"/>
          </a:ln>
        </p:spPr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6E9BA136-0EBA-4904-809D-70045AC39D90}"/>
              </a:ext>
            </a:extLst>
          </p:cNvPr>
          <p:cNvSpPr>
            <a:spLocks noGrp="1"/>
          </p:cNvSpPr>
          <p:nvPr/>
        </p:nvSpPr>
        <p:spPr>
          <a:xfrm>
            <a:off x="4476750" y="1619250"/>
            <a:ext cx="76200" cy="1809750"/>
          </a:xfrm>
          <a:prstGeom prst="rect">
            <a:avLst/>
          </a:prstGeom>
          <a:solidFill>
            <a:srgbClr val="08B8C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9EEEFFFE-DB2E-46DD-BF7F-315472653024}"/>
              </a:ext>
            </a:extLst>
          </p:cNvPr>
          <p:cNvSpPr>
            <a:spLocks noGrp="1"/>
          </p:cNvSpPr>
          <p:nvPr/>
        </p:nvSpPr>
        <p:spPr>
          <a:xfrm>
            <a:off x="4648200" y="1771650"/>
            <a:ext cx="31432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Use workflow quando...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006F56FA-1CF1-40E2-8443-E3A2BB3EA120}"/>
              </a:ext>
            </a:extLst>
          </p:cNvPr>
          <p:cNvSpPr>
            <a:spLocks noGrp="1"/>
          </p:cNvSpPr>
          <p:nvPr/>
        </p:nvSpPr>
        <p:spPr>
          <a:xfrm>
            <a:off x="4648200" y="2057400"/>
            <a:ext cx="3124200" cy="1276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O processo tem etapas definidas, precisa de ordem explícita ou vários agentes/funções precisam coordenar.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D842E8F8-ACAB-4FBA-A80F-8A345A01789F}"/>
              </a:ext>
            </a:extLst>
          </p:cNvPr>
          <p:cNvSpPr>
            <a:spLocks noGrp="1"/>
          </p:cNvSpPr>
          <p:nvPr/>
        </p:nvSpPr>
        <p:spPr>
          <a:xfrm>
            <a:off x="685800" y="3905250"/>
            <a:ext cx="7048500" cy="42862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Regra de bolso: se você consegue desenhar as etapas no quadro, provavelmente existe um workflow querendo nascer.</a:t>
            </a:r>
          </a:p>
        </p:txBody>
      </p:sp>
    </p:spTree>
    <p:extLst>
      <p:ext uri="{BB962C8B-B14F-4D97-AF65-F5344CB8AC3E}">
        <p14:creationId xmlns:p14="http://schemas.microsoft.com/office/powerpoint/2010/main" val="61016596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Image 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EA3F6C73-C438-4BD1-8AFE-362506949808}"/>
              </a:ext>
            </a:extLst>
          </p:cNvPr>
          <p:cNvSpPr>
            <a:spLocks noGrp="1"/>
          </p:cNvSpPr>
          <p:nvPr/>
        </p:nvSpPr>
        <p:spPr>
          <a:xfrm>
            <a:off x="457200" y="666750"/>
            <a:ext cx="5143500" cy="685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62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62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O que entra no pacote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CF84550-FD65-47A6-8EBC-C86DB072B6A6}"/>
              </a:ext>
            </a:extLst>
          </p:cNvPr>
          <p:cNvSpPr>
            <a:spLocks noGrp="1"/>
          </p:cNvSpPr>
          <p:nvPr/>
        </p:nvSpPr>
        <p:spPr>
          <a:xfrm>
            <a:off x="457200" y="1371600"/>
            <a:ext cx="800100" cy="66675"/>
          </a:xfrm>
          <a:prstGeom prst="rect">
            <a:avLst/>
          </a:prstGeom>
          <a:solidFill>
            <a:srgbClr val="08B8C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DC78C23-5BA8-464E-AA13-BD6473596692}"/>
              </a:ext>
            </a:extLst>
          </p:cNvPr>
          <p:cNvSpPr>
            <a:spLocks noGrp="1"/>
          </p:cNvSpPr>
          <p:nvPr/>
        </p:nvSpPr>
        <p:spPr>
          <a:xfrm>
            <a:off x="514350" y="1571625"/>
            <a:ext cx="933450" cy="400050"/>
          </a:xfrm>
          <a:prstGeom prst="rect">
            <a:avLst/>
          </a:prstGeom>
          <a:solidFill>
            <a:srgbClr val="08B8C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850B730-1EE6-4AF4-8B5D-D3A9FED7E521}"/>
              </a:ext>
            </a:extLst>
          </p:cNvPr>
          <p:cNvSpPr>
            <a:spLocks noGrp="1"/>
          </p:cNvSpPr>
          <p:nvPr/>
        </p:nvSpPr>
        <p:spPr>
          <a:xfrm>
            <a:off x="514350" y="1670955"/>
            <a:ext cx="9334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350" b="1">
                <a:solidFill>
                  <a:srgbClr val="FFFFFF"/>
                </a:solidFill>
                <a:latin typeface="Courier New"/>
                <a:ea typeface="Courier New"/>
                <a:cs typeface="Courier New"/>
              </a:defRPr>
            </a:pPr>
            <a:r>
              <a:rPr sz="1350" b="1" dirty="0">
                <a:solidFill>
                  <a:srgbClr val="FFFFFF"/>
                </a:solidFill>
                <a:latin typeface="Courier New"/>
                <a:ea typeface="Courier New"/>
                <a:cs typeface="Courier New"/>
              </a:rPr>
              <a:t>01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E97CC31-5CE0-465D-8CD4-C66C3D38FEE4}"/>
              </a:ext>
            </a:extLst>
          </p:cNvPr>
          <p:cNvSpPr>
            <a:spLocks noGrp="1"/>
          </p:cNvSpPr>
          <p:nvPr/>
        </p:nvSpPr>
        <p:spPr>
          <a:xfrm>
            <a:off x="1666875" y="1552575"/>
            <a:ext cx="17145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42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SDK/runtime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5F769D0-7031-448A-9EE2-95909BBB763C}"/>
              </a:ext>
            </a:extLst>
          </p:cNvPr>
          <p:cNvSpPr>
            <a:spLocks noGrp="1"/>
          </p:cNvSpPr>
          <p:nvPr/>
        </p:nvSpPr>
        <p:spPr>
          <a:xfrm>
            <a:off x="1666875" y="1838325"/>
            <a:ext cx="40005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Modelo comum para .NET e Python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7B654615-986E-48A5-9D63-922B0425C9C8}"/>
              </a:ext>
            </a:extLst>
          </p:cNvPr>
          <p:cNvSpPr>
            <a:spLocks noGrp="1"/>
          </p:cNvSpPr>
          <p:nvPr/>
        </p:nvSpPr>
        <p:spPr>
          <a:xfrm>
            <a:off x="514350" y="2238375"/>
            <a:ext cx="933450" cy="400050"/>
          </a:xfrm>
          <a:prstGeom prst="rect">
            <a:avLst/>
          </a:prstGeom>
          <a:solidFill>
            <a:srgbClr val="111111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4AE3A96-DCA7-4D2F-A2BF-16C014DEDEED}"/>
              </a:ext>
            </a:extLst>
          </p:cNvPr>
          <p:cNvSpPr>
            <a:spLocks noGrp="1"/>
          </p:cNvSpPr>
          <p:nvPr/>
        </p:nvSpPr>
        <p:spPr>
          <a:xfrm>
            <a:off x="514350" y="2337705"/>
            <a:ext cx="9334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350" b="1">
                <a:solidFill>
                  <a:srgbClr val="FFFFFF"/>
                </a:solidFill>
                <a:latin typeface="Courier New"/>
                <a:ea typeface="Courier New"/>
                <a:cs typeface="Courier New"/>
              </a:defRPr>
            </a:pPr>
            <a:r>
              <a:rPr sz="1350" b="1">
                <a:solidFill>
                  <a:srgbClr val="FFFFFF"/>
                </a:solidFill>
                <a:latin typeface="Courier New"/>
                <a:ea typeface="Courier New"/>
                <a:cs typeface="Courier New"/>
              </a:rPr>
              <a:t>02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F051CD1-58C7-4ACA-90FD-85B8E3EAB73F}"/>
              </a:ext>
            </a:extLst>
          </p:cNvPr>
          <p:cNvSpPr>
            <a:spLocks noGrp="1"/>
          </p:cNvSpPr>
          <p:nvPr/>
        </p:nvSpPr>
        <p:spPr>
          <a:xfrm>
            <a:off x="1666875" y="2219325"/>
            <a:ext cx="17145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42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Agentes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655BC4A2-9C46-4EA2-99E1-36A749538620}"/>
              </a:ext>
            </a:extLst>
          </p:cNvPr>
          <p:cNvSpPr>
            <a:spLocks noGrp="1"/>
          </p:cNvSpPr>
          <p:nvPr/>
        </p:nvSpPr>
        <p:spPr>
          <a:xfrm>
            <a:off x="1666875" y="2505075"/>
            <a:ext cx="40005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Instruções, ferramentas, provedores e memória/contexto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E9CE3BC1-B880-470B-AFE2-B4F27C013B32}"/>
              </a:ext>
            </a:extLst>
          </p:cNvPr>
          <p:cNvSpPr>
            <a:spLocks noGrp="1"/>
          </p:cNvSpPr>
          <p:nvPr/>
        </p:nvSpPr>
        <p:spPr>
          <a:xfrm>
            <a:off x="514350" y="2905125"/>
            <a:ext cx="933450" cy="400050"/>
          </a:xfrm>
          <a:prstGeom prst="rect">
            <a:avLst/>
          </a:prstGeom>
          <a:solidFill>
            <a:srgbClr val="08B8C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E98231CB-F547-43B8-946B-33B772AD9E09}"/>
              </a:ext>
            </a:extLst>
          </p:cNvPr>
          <p:cNvSpPr>
            <a:spLocks noGrp="1"/>
          </p:cNvSpPr>
          <p:nvPr/>
        </p:nvSpPr>
        <p:spPr>
          <a:xfrm>
            <a:off x="514350" y="3004455"/>
            <a:ext cx="9334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350" b="1">
                <a:solidFill>
                  <a:srgbClr val="FFFFFF"/>
                </a:solidFill>
                <a:latin typeface="Courier New"/>
                <a:ea typeface="Courier New"/>
                <a:cs typeface="Courier New"/>
              </a:defRPr>
            </a:pPr>
            <a:r>
              <a:rPr sz="1350" b="1">
                <a:solidFill>
                  <a:srgbClr val="FFFFFF"/>
                </a:solidFill>
                <a:latin typeface="Courier New"/>
                <a:ea typeface="Courier New"/>
                <a:cs typeface="Courier New"/>
              </a:rPr>
              <a:t>03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23537AB1-2F5A-4CAA-A89D-BD5BF8E31033}"/>
              </a:ext>
            </a:extLst>
          </p:cNvPr>
          <p:cNvSpPr>
            <a:spLocks noGrp="1"/>
          </p:cNvSpPr>
          <p:nvPr/>
        </p:nvSpPr>
        <p:spPr>
          <a:xfrm>
            <a:off x="1666875" y="2886075"/>
            <a:ext cx="17145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42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Workflows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E36ED1C-F2D1-41AD-89C6-567BE78BD811}"/>
              </a:ext>
            </a:extLst>
          </p:cNvPr>
          <p:cNvSpPr>
            <a:spLocks noGrp="1"/>
          </p:cNvSpPr>
          <p:nvPr/>
        </p:nvSpPr>
        <p:spPr>
          <a:xfrm>
            <a:off x="1666875" y="3171825"/>
            <a:ext cx="40005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Executors, edges, eventos, estado e checkpoints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27CF5F7B-8993-40CA-84B6-1622CCA26865}"/>
              </a:ext>
            </a:extLst>
          </p:cNvPr>
          <p:cNvSpPr>
            <a:spLocks noGrp="1"/>
          </p:cNvSpPr>
          <p:nvPr/>
        </p:nvSpPr>
        <p:spPr>
          <a:xfrm>
            <a:off x="514350" y="3571875"/>
            <a:ext cx="933450" cy="400050"/>
          </a:xfrm>
          <a:prstGeom prst="rect">
            <a:avLst/>
          </a:prstGeom>
          <a:solidFill>
            <a:srgbClr val="111111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A9527036-F274-4A5D-A376-6DC82EB40017}"/>
              </a:ext>
            </a:extLst>
          </p:cNvPr>
          <p:cNvSpPr>
            <a:spLocks noGrp="1"/>
          </p:cNvSpPr>
          <p:nvPr/>
        </p:nvSpPr>
        <p:spPr>
          <a:xfrm>
            <a:off x="514350" y="3671205"/>
            <a:ext cx="9334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350" b="1">
                <a:solidFill>
                  <a:srgbClr val="FFFFFF"/>
                </a:solidFill>
                <a:latin typeface="Courier New"/>
                <a:ea typeface="Courier New"/>
                <a:cs typeface="Courier New"/>
              </a:defRPr>
            </a:pPr>
            <a:r>
              <a:rPr sz="1350" b="1">
                <a:solidFill>
                  <a:srgbClr val="FFFFFF"/>
                </a:solidFill>
                <a:latin typeface="Courier New"/>
                <a:ea typeface="Courier New"/>
                <a:cs typeface="Courier New"/>
              </a:rPr>
              <a:t>04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4421A8D9-729A-46A7-A2F0-E4B326A7E501}"/>
              </a:ext>
            </a:extLst>
          </p:cNvPr>
          <p:cNvSpPr>
            <a:spLocks noGrp="1"/>
          </p:cNvSpPr>
          <p:nvPr/>
        </p:nvSpPr>
        <p:spPr>
          <a:xfrm>
            <a:off x="1666875" y="3552825"/>
            <a:ext cx="17145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42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Integração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316AA500-ECDB-4D5B-B9DF-6D6BCA148C64}"/>
              </a:ext>
            </a:extLst>
          </p:cNvPr>
          <p:cNvSpPr>
            <a:spLocks noGrp="1"/>
          </p:cNvSpPr>
          <p:nvPr/>
        </p:nvSpPr>
        <p:spPr>
          <a:xfrm>
            <a:off x="1666875" y="3838575"/>
            <a:ext cx="40005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MCP, OpenAPI, Foundry/Azure e aplicações .NET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2AC616C1-C84F-46ED-99C2-24CFAFF99DAB}"/>
              </a:ext>
            </a:extLst>
          </p:cNvPr>
          <p:cNvSpPr>
            <a:spLocks noGrp="1"/>
          </p:cNvSpPr>
          <p:nvPr/>
        </p:nvSpPr>
        <p:spPr>
          <a:xfrm>
            <a:off x="514350" y="4192768"/>
            <a:ext cx="5429250" cy="419100"/>
          </a:xfrm>
          <a:prstGeom prst="rect">
            <a:avLst/>
          </a:prstGeom>
          <a:solidFill>
            <a:srgbClr val="ECECEC"/>
          </a:solidFill>
          <a:ln w="9525">
            <a:solidFill>
              <a:srgbClr val="08B8C8"/>
            </a:solidFill>
            <a:prstDash val="solid"/>
          </a:ln>
        </p:spPr>
        <p:txBody>
          <a:bodyPr lIns="114300" tIns="85725" rIns="114300" bIns="85725" anchor="ctr"/>
          <a:lstStyle/>
          <a:p>
            <a:pPr algn="l">
              <a:defRPr sz="97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O ganho não é 'mais agentes'. É programação explícita para colaboração entre agentes.</a:t>
            </a:r>
          </a:p>
        </p:txBody>
      </p:sp>
    </p:spTree>
    <p:extLst>
      <p:ext uri="{BB962C8B-B14F-4D97-AF65-F5344CB8AC3E}">
        <p14:creationId xmlns:p14="http://schemas.microsoft.com/office/powerpoint/2010/main" val="134855286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" name="Image 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5C7F7FD5-05DB-4FA8-BD1A-799C13631358}"/>
              </a:ext>
            </a:extLst>
          </p:cNvPr>
          <p:cNvSpPr>
            <a:spLocks noGrp="1"/>
          </p:cNvSpPr>
          <p:nvPr/>
        </p:nvSpPr>
        <p:spPr>
          <a:xfrm>
            <a:off x="457200" y="552450"/>
            <a:ext cx="5334000" cy="685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62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62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Workflow é um grafo de decisões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F043FD4-28D5-4F53-921B-E9A2FF725FFA}"/>
              </a:ext>
            </a:extLst>
          </p:cNvPr>
          <p:cNvSpPr>
            <a:spLocks noGrp="1"/>
          </p:cNvSpPr>
          <p:nvPr/>
        </p:nvSpPr>
        <p:spPr>
          <a:xfrm>
            <a:off x="457200" y="1257300"/>
            <a:ext cx="800100" cy="66675"/>
          </a:xfrm>
          <a:prstGeom prst="rect">
            <a:avLst/>
          </a:prstGeom>
          <a:solidFill>
            <a:srgbClr val="08B8C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1C8094A-DA8A-403F-83F6-3E8AD6838BCF}"/>
              </a:ext>
            </a:extLst>
          </p:cNvPr>
          <p:cNvSpPr>
            <a:spLocks noGrp="1"/>
          </p:cNvSpPr>
          <p:nvPr/>
        </p:nvSpPr>
        <p:spPr>
          <a:xfrm>
            <a:off x="590550" y="2095500"/>
            <a:ext cx="1028700" cy="628650"/>
          </a:xfrm>
          <a:prstGeom prst="rect">
            <a:avLst/>
          </a:prstGeom>
          <a:solidFill>
            <a:srgbClr val="ECECEC"/>
          </a:solidFill>
          <a:ln w="13335">
            <a:solidFill>
              <a:srgbClr val="111111"/>
            </a:solidFill>
            <a:prstDash val="solid"/>
          </a:ln>
        </p:spPr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766F14B-7448-441D-9B73-C81C32EF7077}"/>
              </a:ext>
            </a:extLst>
          </p:cNvPr>
          <p:cNvSpPr>
            <a:spLocks noGrp="1"/>
          </p:cNvSpPr>
          <p:nvPr/>
        </p:nvSpPr>
        <p:spPr>
          <a:xfrm>
            <a:off x="666750" y="2168163"/>
            <a:ext cx="876300" cy="495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97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975" b="1" dirty="0">
                <a:solidFill>
                  <a:srgbClr val="111111"/>
                </a:solidFill>
                <a:latin typeface="Arial"/>
                <a:ea typeface="Arial"/>
                <a:cs typeface="Arial"/>
              </a:rPr>
              <a:t>Entrada</a:t>
            </a:r>
          </a:p>
          <a:p>
            <a:pPr algn="ctr">
              <a:defRPr sz="97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975" b="1" dirty="0" err="1">
                <a:solidFill>
                  <a:srgbClr val="111111"/>
                </a:solidFill>
                <a:latin typeface="Arial"/>
                <a:ea typeface="Arial"/>
                <a:cs typeface="Arial"/>
              </a:rPr>
              <a:t>usuário</a:t>
            </a:r>
            <a:r>
              <a:rPr sz="975" b="1" dirty="0">
                <a:solidFill>
                  <a:srgbClr val="111111"/>
                </a:solidFill>
                <a:latin typeface="Arial"/>
                <a:ea typeface="Arial"/>
                <a:cs typeface="Arial"/>
              </a:rPr>
              <a:t>/UI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DA4CF38-B49E-4E7E-B130-23652F7B0974}"/>
              </a:ext>
            </a:extLst>
          </p:cNvPr>
          <p:cNvSpPr>
            <a:spLocks noGrp="1"/>
          </p:cNvSpPr>
          <p:nvPr/>
        </p:nvSpPr>
        <p:spPr>
          <a:xfrm>
            <a:off x="1619250" y="2400300"/>
            <a:ext cx="400050" cy="28575"/>
          </a:xfrm>
          <a:prstGeom prst="rect">
            <a:avLst/>
          </a:prstGeom>
          <a:solidFill>
            <a:srgbClr val="111111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6F1F6BF-649F-469A-8649-B58BC8B02AEC}"/>
              </a:ext>
            </a:extLst>
          </p:cNvPr>
          <p:cNvSpPr>
            <a:spLocks noGrp="1"/>
          </p:cNvSpPr>
          <p:nvPr/>
        </p:nvSpPr>
        <p:spPr>
          <a:xfrm>
            <a:off x="2019300" y="2095500"/>
            <a:ext cx="1000125" cy="628650"/>
          </a:xfrm>
          <a:prstGeom prst="rect">
            <a:avLst/>
          </a:prstGeom>
          <a:solidFill>
            <a:srgbClr val="08B8C8"/>
          </a:solidFill>
          <a:ln w="13335">
            <a:solidFill>
              <a:srgbClr val="111111"/>
            </a:solidFill>
            <a:prstDash val="solid"/>
          </a:ln>
        </p:spPr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A8642478-B040-4C0C-82E7-3829CB80A778}"/>
              </a:ext>
            </a:extLst>
          </p:cNvPr>
          <p:cNvSpPr>
            <a:spLocks noGrp="1"/>
          </p:cNvSpPr>
          <p:nvPr/>
        </p:nvSpPr>
        <p:spPr>
          <a:xfrm>
            <a:off x="2095500" y="2168163"/>
            <a:ext cx="847725" cy="495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9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75" b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Router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D0E66D60-F5BD-414B-AE52-06B42436A9BC}"/>
              </a:ext>
            </a:extLst>
          </p:cNvPr>
          <p:cNvSpPr>
            <a:spLocks noGrp="1"/>
          </p:cNvSpPr>
          <p:nvPr/>
        </p:nvSpPr>
        <p:spPr>
          <a:xfrm>
            <a:off x="3019425" y="2400300"/>
            <a:ext cx="361950" cy="28575"/>
          </a:xfrm>
          <a:prstGeom prst="rect">
            <a:avLst/>
          </a:prstGeom>
          <a:solidFill>
            <a:srgbClr val="111111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08DCE9A8-BB65-438A-B16B-2E985133C946}"/>
              </a:ext>
            </a:extLst>
          </p:cNvPr>
          <p:cNvSpPr>
            <a:spLocks noGrp="1"/>
          </p:cNvSpPr>
          <p:nvPr/>
        </p:nvSpPr>
        <p:spPr>
          <a:xfrm>
            <a:off x="3381375" y="1352550"/>
            <a:ext cx="1143000" cy="628650"/>
          </a:xfrm>
          <a:prstGeom prst="rect">
            <a:avLst/>
          </a:prstGeom>
          <a:solidFill>
            <a:srgbClr val="FFFFFF"/>
          </a:solidFill>
          <a:ln w="13335">
            <a:solidFill>
              <a:srgbClr val="111111"/>
            </a:solidFill>
            <a:prstDash val="solid"/>
          </a:ln>
        </p:spPr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5CF503CA-31AE-4BED-868E-2AF3FA7C9BE2}"/>
              </a:ext>
            </a:extLst>
          </p:cNvPr>
          <p:cNvSpPr>
            <a:spLocks noGrp="1"/>
          </p:cNvSpPr>
          <p:nvPr/>
        </p:nvSpPr>
        <p:spPr>
          <a:xfrm>
            <a:off x="3457575" y="1425213"/>
            <a:ext cx="990600" cy="495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97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Planner</a:t>
            </a:r>
          </a:p>
          <a:p>
            <a:pPr algn="ctr">
              <a:defRPr sz="97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Agent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5308E17A-7A56-4161-9031-C7061E3DCE3A}"/>
              </a:ext>
            </a:extLst>
          </p:cNvPr>
          <p:cNvSpPr>
            <a:spLocks noGrp="1"/>
          </p:cNvSpPr>
          <p:nvPr/>
        </p:nvSpPr>
        <p:spPr>
          <a:xfrm>
            <a:off x="3381375" y="2095500"/>
            <a:ext cx="1143000" cy="628650"/>
          </a:xfrm>
          <a:prstGeom prst="rect">
            <a:avLst/>
          </a:prstGeom>
          <a:solidFill>
            <a:srgbClr val="FFFFFF"/>
          </a:solidFill>
          <a:ln w="13335">
            <a:solidFill>
              <a:srgbClr val="111111"/>
            </a:solidFill>
            <a:prstDash val="solid"/>
          </a:ln>
        </p:spPr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1B5AB66-130B-49CF-8297-430EB0B8B26A}"/>
              </a:ext>
            </a:extLst>
          </p:cNvPr>
          <p:cNvSpPr>
            <a:spLocks noGrp="1"/>
          </p:cNvSpPr>
          <p:nvPr/>
        </p:nvSpPr>
        <p:spPr>
          <a:xfrm>
            <a:off x="3457575" y="2168163"/>
            <a:ext cx="990600" cy="495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97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Research</a:t>
            </a:r>
          </a:p>
          <a:p>
            <a:pPr algn="ctr">
              <a:defRPr sz="97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Agent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88C379E0-48FC-4D6C-B4FA-CCC63DBD9BCD}"/>
              </a:ext>
            </a:extLst>
          </p:cNvPr>
          <p:cNvSpPr>
            <a:spLocks noGrp="1"/>
          </p:cNvSpPr>
          <p:nvPr/>
        </p:nvSpPr>
        <p:spPr>
          <a:xfrm>
            <a:off x="3381375" y="2838450"/>
            <a:ext cx="1143000" cy="628650"/>
          </a:xfrm>
          <a:prstGeom prst="rect">
            <a:avLst/>
          </a:prstGeom>
          <a:solidFill>
            <a:srgbClr val="FFFFFF"/>
          </a:solidFill>
          <a:ln w="13335">
            <a:solidFill>
              <a:srgbClr val="111111"/>
            </a:solidFill>
            <a:prstDash val="solid"/>
          </a:ln>
        </p:spPr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BEDA9970-284B-4E8F-998A-BD5DBBB9419D}"/>
              </a:ext>
            </a:extLst>
          </p:cNvPr>
          <p:cNvSpPr>
            <a:spLocks noGrp="1"/>
          </p:cNvSpPr>
          <p:nvPr/>
        </p:nvSpPr>
        <p:spPr>
          <a:xfrm>
            <a:off x="3457575" y="2911113"/>
            <a:ext cx="990600" cy="495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97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Executor</a:t>
            </a:r>
          </a:p>
          <a:p>
            <a:pPr algn="ctr">
              <a:defRPr sz="97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Function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B38CF8A2-DBCC-4D50-85D5-0E96EC50066A}"/>
              </a:ext>
            </a:extLst>
          </p:cNvPr>
          <p:cNvSpPr>
            <a:spLocks noGrp="1"/>
          </p:cNvSpPr>
          <p:nvPr/>
        </p:nvSpPr>
        <p:spPr>
          <a:xfrm>
            <a:off x="4524375" y="1657350"/>
            <a:ext cx="400050" cy="28575"/>
          </a:xfrm>
          <a:prstGeom prst="rect">
            <a:avLst/>
          </a:prstGeom>
          <a:solidFill>
            <a:srgbClr val="111111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1C982225-9AEC-4734-AAEE-2408B1911E98}"/>
              </a:ext>
            </a:extLst>
          </p:cNvPr>
          <p:cNvSpPr>
            <a:spLocks noGrp="1"/>
          </p:cNvSpPr>
          <p:nvPr/>
        </p:nvSpPr>
        <p:spPr>
          <a:xfrm>
            <a:off x="4524375" y="2400300"/>
            <a:ext cx="400050" cy="28575"/>
          </a:xfrm>
          <a:prstGeom prst="rect">
            <a:avLst/>
          </a:prstGeom>
          <a:solidFill>
            <a:srgbClr val="111111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FED36166-621D-4426-BDD8-78BF44702EEB}"/>
              </a:ext>
            </a:extLst>
          </p:cNvPr>
          <p:cNvSpPr>
            <a:spLocks noGrp="1"/>
          </p:cNvSpPr>
          <p:nvPr/>
        </p:nvSpPr>
        <p:spPr>
          <a:xfrm>
            <a:off x="4524375" y="3143250"/>
            <a:ext cx="400050" cy="28575"/>
          </a:xfrm>
          <a:prstGeom prst="rect">
            <a:avLst/>
          </a:prstGeom>
          <a:solidFill>
            <a:srgbClr val="111111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D7E323B9-F208-429D-B10A-0103E07A52F4}"/>
              </a:ext>
            </a:extLst>
          </p:cNvPr>
          <p:cNvSpPr>
            <a:spLocks noGrp="1"/>
          </p:cNvSpPr>
          <p:nvPr/>
        </p:nvSpPr>
        <p:spPr>
          <a:xfrm>
            <a:off x="4914900" y="1657350"/>
            <a:ext cx="28575" cy="1504950"/>
          </a:xfrm>
          <a:prstGeom prst="rect">
            <a:avLst/>
          </a:prstGeom>
          <a:solidFill>
            <a:srgbClr val="111111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3D4F7F51-B29B-450D-9D2D-49A0940A8CD7}"/>
              </a:ext>
            </a:extLst>
          </p:cNvPr>
          <p:cNvSpPr>
            <a:spLocks noGrp="1"/>
          </p:cNvSpPr>
          <p:nvPr/>
        </p:nvSpPr>
        <p:spPr>
          <a:xfrm>
            <a:off x="4943475" y="2400300"/>
            <a:ext cx="400050" cy="28575"/>
          </a:xfrm>
          <a:prstGeom prst="rect">
            <a:avLst/>
          </a:prstGeom>
          <a:solidFill>
            <a:srgbClr val="111111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A8611747-83B4-41EA-A69D-2699F998A6A3}"/>
              </a:ext>
            </a:extLst>
          </p:cNvPr>
          <p:cNvSpPr>
            <a:spLocks noGrp="1"/>
          </p:cNvSpPr>
          <p:nvPr/>
        </p:nvSpPr>
        <p:spPr>
          <a:xfrm>
            <a:off x="5343525" y="2095500"/>
            <a:ext cx="1200150" cy="628650"/>
          </a:xfrm>
          <a:prstGeom prst="rect">
            <a:avLst/>
          </a:prstGeom>
          <a:solidFill>
            <a:srgbClr val="111111"/>
          </a:solidFill>
          <a:ln w="13335">
            <a:solidFill>
              <a:srgbClr val="111111"/>
            </a:solidFill>
            <a:prstDash val="solid"/>
          </a:ln>
        </p:spPr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96328CD7-8E78-44A0-AACB-87A4A9563470}"/>
              </a:ext>
            </a:extLst>
          </p:cNvPr>
          <p:cNvSpPr>
            <a:spLocks noGrp="1"/>
          </p:cNvSpPr>
          <p:nvPr/>
        </p:nvSpPr>
        <p:spPr>
          <a:xfrm>
            <a:off x="5419725" y="2168163"/>
            <a:ext cx="1047750" cy="495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9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Reviewer</a:t>
            </a:r>
          </a:p>
          <a:p>
            <a:pPr algn="ctr">
              <a:defRPr sz="9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Agent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CB1E4C7A-C74D-4610-8447-30481DB61179}"/>
              </a:ext>
            </a:extLst>
          </p:cNvPr>
          <p:cNvSpPr>
            <a:spLocks noGrp="1"/>
          </p:cNvSpPr>
          <p:nvPr/>
        </p:nvSpPr>
        <p:spPr>
          <a:xfrm>
            <a:off x="6543675" y="2400300"/>
            <a:ext cx="400050" cy="28575"/>
          </a:xfrm>
          <a:prstGeom prst="rect">
            <a:avLst/>
          </a:prstGeom>
          <a:solidFill>
            <a:srgbClr val="111111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21CFF066-8819-4A61-9C0E-EED399B6C7F3}"/>
              </a:ext>
            </a:extLst>
          </p:cNvPr>
          <p:cNvSpPr>
            <a:spLocks noGrp="1"/>
          </p:cNvSpPr>
          <p:nvPr/>
        </p:nvSpPr>
        <p:spPr>
          <a:xfrm>
            <a:off x="6943725" y="2095500"/>
            <a:ext cx="1143000" cy="628650"/>
          </a:xfrm>
          <a:prstGeom prst="rect">
            <a:avLst/>
          </a:prstGeom>
          <a:solidFill>
            <a:srgbClr val="ECECEC"/>
          </a:solidFill>
          <a:ln w="13335">
            <a:solidFill>
              <a:srgbClr val="111111"/>
            </a:solidFill>
            <a:prstDash val="solid"/>
          </a:ln>
        </p:spPr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D3BE4CA4-EEA8-4AF2-92E2-42043375D87C}"/>
              </a:ext>
            </a:extLst>
          </p:cNvPr>
          <p:cNvSpPr>
            <a:spLocks noGrp="1"/>
          </p:cNvSpPr>
          <p:nvPr/>
        </p:nvSpPr>
        <p:spPr>
          <a:xfrm>
            <a:off x="7019925" y="2168163"/>
            <a:ext cx="990600" cy="495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97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Resposta</a:t>
            </a:r>
          </a:p>
          <a:p>
            <a:pPr algn="ctr">
              <a:defRPr sz="97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Blazor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A1845928-4D5E-40F6-9824-C37C0F0988DA}"/>
              </a:ext>
            </a:extLst>
          </p:cNvPr>
          <p:cNvSpPr>
            <a:spLocks noGrp="1"/>
          </p:cNvSpPr>
          <p:nvPr/>
        </p:nvSpPr>
        <p:spPr>
          <a:xfrm>
            <a:off x="3143250" y="3714749"/>
            <a:ext cx="3667125" cy="515165"/>
          </a:xfrm>
          <a:prstGeom prst="rect">
            <a:avLst/>
          </a:prstGeom>
          <a:solidFill>
            <a:srgbClr val="000000">
              <a:alpha val="0"/>
            </a:srgbClr>
          </a:solidFill>
          <a:ln w="19050">
            <a:solidFill>
              <a:srgbClr val="08B8C8"/>
            </a:solidFill>
            <a:prstDash val="solid"/>
          </a:ln>
        </p:spPr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8F09FEEC-1DFC-4F2C-BF66-9CC08C4BB430}"/>
              </a:ext>
            </a:extLst>
          </p:cNvPr>
          <p:cNvSpPr>
            <a:spLocks noGrp="1"/>
          </p:cNvSpPr>
          <p:nvPr/>
        </p:nvSpPr>
        <p:spPr>
          <a:xfrm>
            <a:off x="3314700" y="3799932"/>
            <a:ext cx="33337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050" b="1" dirty="0" err="1">
                <a:solidFill>
                  <a:srgbClr val="111111"/>
                </a:solidFill>
                <a:latin typeface="Arial"/>
                <a:ea typeface="Arial"/>
                <a:cs typeface="Arial"/>
              </a:rPr>
              <a:t>Eventos</a:t>
            </a:r>
            <a:r>
              <a:rPr sz="1050" b="1" dirty="0">
                <a:solidFill>
                  <a:srgbClr val="111111"/>
                </a:solidFill>
                <a:latin typeface="Arial"/>
                <a:ea typeface="Arial"/>
                <a:cs typeface="Arial"/>
              </a:rPr>
              <a:t> + </a:t>
            </a:r>
            <a:r>
              <a:rPr sz="1050" b="1" dirty="0" err="1">
                <a:solidFill>
                  <a:srgbClr val="111111"/>
                </a:solidFill>
                <a:latin typeface="Arial"/>
                <a:ea typeface="Arial"/>
                <a:cs typeface="Arial"/>
              </a:rPr>
              <a:t>estado</a:t>
            </a:r>
            <a:r>
              <a:rPr sz="1050" b="1" dirty="0">
                <a:solidFill>
                  <a:srgbClr val="111111"/>
                </a:solidFill>
                <a:latin typeface="Arial"/>
                <a:ea typeface="Arial"/>
                <a:cs typeface="Arial"/>
              </a:rPr>
              <a:t> + checkpoints </a:t>
            </a:r>
            <a:r>
              <a:rPr sz="1050" b="1" dirty="0" err="1">
                <a:solidFill>
                  <a:srgbClr val="111111"/>
                </a:solidFill>
                <a:latin typeface="Arial"/>
                <a:ea typeface="Arial"/>
                <a:cs typeface="Arial"/>
              </a:rPr>
              <a:t>deixam</a:t>
            </a:r>
            <a:r>
              <a:rPr sz="1050" b="1" dirty="0">
                <a:solidFill>
                  <a:srgbClr val="111111"/>
                </a:solidFill>
                <a:latin typeface="Arial"/>
                <a:ea typeface="Arial"/>
                <a:cs typeface="Arial"/>
              </a:rPr>
              <a:t> o </a:t>
            </a:r>
            <a:r>
              <a:rPr sz="1050" b="1" dirty="0" err="1">
                <a:solidFill>
                  <a:srgbClr val="111111"/>
                </a:solidFill>
                <a:latin typeface="Arial"/>
                <a:ea typeface="Arial"/>
                <a:cs typeface="Arial"/>
              </a:rPr>
              <a:t>fluxo</a:t>
            </a:r>
            <a:r>
              <a:rPr sz="1050" b="1" dirty="0">
                <a:solidFill>
                  <a:srgbClr val="111111"/>
                </a:solidFill>
                <a:latin typeface="Arial"/>
                <a:ea typeface="Arial"/>
                <a:cs typeface="Arial"/>
              </a:rPr>
              <a:t> </a:t>
            </a:r>
            <a:r>
              <a:rPr sz="1050" b="1" dirty="0" err="1">
                <a:solidFill>
                  <a:srgbClr val="111111"/>
                </a:solidFill>
                <a:latin typeface="Arial"/>
                <a:ea typeface="Arial"/>
                <a:cs typeface="Arial"/>
              </a:rPr>
              <a:t>observável</a:t>
            </a:r>
            <a:r>
              <a:rPr sz="1050" b="1" dirty="0">
                <a:solidFill>
                  <a:srgbClr val="111111"/>
                </a:solidFill>
                <a:latin typeface="Arial"/>
                <a:ea typeface="Arial"/>
                <a:cs typeface="Arial"/>
              </a:rPr>
              <a:t> e </a:t>
            </a:r>
            <a:r>
              <a:rPr sz="1050" b="1" dirty="0" err="1">
                <a:solidFill>
                  <a:srgbClr val="111111"/>
                </a:solidFill>
                <a:latin typeface="Arial"/>
                <a:ea typeface="Arial"/>
                <a:cs typeface="Arial"/>
              </a:rPr>
              <a:t>retomável</a:t>
            </a:r>
            <a:r>
              <a:rPr sz="1050" b="1" dirty="0">
                <a:solidFill>
                  <a:srgbClr val="111111"/>
                </a:solidFill>
                <a:latin typeface="Arial"/>
                <a:ea typeface="Arial"/>
                <a:cs typeface="Arial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61016596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Image 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9F31F867-B994-4F96-8A5F-2D5A94539F10}"/>
              </a:ext>
            </a:extLst>
          </p:cNvPr>
          <p:cNvSpPr>
            <a:spLocks noGrp="1"/>
          </p:cNvSpPr>
          <p:nvPr/>
        </p:nvSpPr>
        <p:spPr>
          <a:xfrm>
            <a:off x="457200" y="571500"/>
            <a:ext cx="5715000" cy="685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62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62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Padrões de orquestração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5ACC1F3-4C5B-4EF6-AFE2-B0AAFE5A1414}"/>
              </a:ext>
            </a:extLst>
          </p:cNvPr>
          <p:cNvSpPr>
            <a:spLocks noGrp="1"/>
          </p:cNvSpPr>
          <p:nvPr/>
        </p:nvSpPr>
        <p:spPr>
          <a:xfrm>
            <a:off x="457200" y="1276350"/>
            <a:ext cx="800100" cy="66675"/>
          </a:xfrm>
          <a:prstGeom prst="rect">
            <a:avLst/>
          </a:prstGeom>
          <a:solidFill>
            <a:srgbClr val="08B8C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75DE3C7-3FC7-4E99-98E3-4AD6C808BF56}"/>
              </a:ext>
            </a:extLst>
          </p:cNvPr>
          <p:cNvSpPr>
            <a:spLocks noGrp="1"/>
          </p:cNvSpPr>
          <p:nvPr/>
        </p:nvSpPr>
        <p:spPr>
          <a:xfrm>
            <a:off x="476250" y="1447800"/>
            <a:ext cx="342900" cy="342900"/>
          </a:xfrm>
          <a:prstGeom prst="rect">
            <a:avLst/>
          </a:prstGeom>
          <a:solidFill>
            <a:srgbClr val="08B8C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404BE35-7758-425A-9118-1C3BDC299DDC}"/>
              </a:ext>
            </a:extLst>
          </p:cNvPr>
          <p:cNvSpPr>
            <a:spLocks noGrp="1"/>
          </p:cNvSpPr>
          <p:nvPr/>
        </p:nvSpPr>
        <p:spPr>
          <a:xfrm>
            <a:off x="476250" y="1495425"/>
            <a:ext cx="3429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2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EA5E09A-D895-4C96-A8F3-ED7D3E79F193}"/>
              </a:ext>
            </a:extLst>
          </p:cNvPr>
          <p:cNvSpPr>
            <a:spLocks noGrp="1"/>
          </p:cNvSpPr>
          <p:nvPr/>
        </p:nvSpPr>
        <p:spPr>
          <a:xfrm>
            <a:off x="1000125" y="1428750"/>
            <a:ext cx="20955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42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Sequencial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7F74E09-3685-4BE1-B656-149E9AAD6D46}"/>
              </a:ext>
            </a:extLst>
          </p:cNvPr>
          <p:cNvSpPr>
            <a:spLocks noGrp="1"/>
          </p:cNvSpPr>
          <p:nvPr/>
        </p:nvSpPr>
        <p:spPr>
          <a:xfrm>
            <a:off x="1000125" y="1714500"/>
            <a:ext cx="44767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um agente prepara o terreno para o próximo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86A3F827-A398-4CA3-A1BD-A16B7EC2A5E6}"/>
              </a:ext>
            </a:extLst>
          </p:cNvPr>
          <p:cNvSpPr>
            <a:spLocks noGrp="1"/>
          </p:cNvSpPr>
          <p:nvPr/>
        </p:nvSpPr>
        <p:spPr>
          <a:xfrm>
            <a:off x="476250" y="2162175"/>
            <a:ext cx="342900" cy="342900"/>
          </a:xfrm>
          <a:prstGeom prst="rect">
            <a:avLst/>
          </a:prstGeom>
          <a:solidFill>
            <a:srgbClr val="08B8C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84CA2CF9-804F-4F20-BD17-6D9E6119360E}"/>
              </a:ext>
            </a:extLst>
          </p:cNvPr>
          <p:cNvSpPr>
            <a:spLocks noGrp="1"/>
          </p:cNvSpPr>
          <p:nvPr/>
        </p:nvSpPr>
        <p:spPr>
          <a:xfrm>
            <a:off x="476250" y="2209800"/>
            <a:ext cx="3429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2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411547E6-8CBF-48FB-8178-D83D6B78EA42}"/>
              </a:ext>
            </a:extLst>
          </p:cNvPr>
          <p:cNvSpPr>
            <a:spLocks noGrp="1"/>
          </p:cNvSpPr>
          <p:nvPr/>
        </p:nvSpPr>
        <p:spPr>
          <a:xfrm>
            <a:off x="1000125" y="2143125"/>
            <a:ext cx="20955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42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Paralelo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2CEA0E9-E232-48AE-9AB3-FB61D0D1E1B3}"/>
              </a:ext>
            </a:extLst>
          </p:cNvPr>
          <p:cNvSpPr>
            <a:spLocks noGrp="1"/>
          </p:cNvSpPr>
          <p:nvPr/>
        </p:nvSpPr>
        <p:spPr>
          <a:xfrm>
            <a:off x="1000125" y="2428875"/>
            <a:ext cx="44767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especialistas analisam dimensões diferentes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C7E73584-D5A2-45C8-9244-EC21680B684C}"/>
              </a:ext>
            </a:extLst>
          </p:cNvPr>
          <p:cNvSpPr>
            <a:spLocks noGrp="1"/>
          </p:cNvSpPr>
          <p:nvPr/>
        </p:nvSpPr>
        <p:spPr>
          <a:xfrm>
            <a:off x="476250" y="2876550"/>
            <a:ext cx="342900" cy="342900"/>
          </a:xfrm>
          <a:prstGeom prst="rect">
            <a:avLst/>
          </a:prstGeom>
          <a:solidFill>
            <a:srgbClr val="08B8C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973DEF6-0E88-4C7B-8783-622C7F7A6A20}"/>
              </a:ext>
            </a:extLst>
          </p:cNvPr>
          <p:cNvSpPr>
            <a:spLocks noGrp="1"/>
          </p:cNvSpPr>
          <p:nvPr/>
        </p:nvSpPr>
        <p:spPr>
          <a:xfrm>
            <a:off x="476250" y="2924175"/>
            <a:ext cx="3429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2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EEC49807-2AA0-4149-8995-1E3D06E3AA73}"/>
              </a:ext>
            </a:extLst>
          </p:cNvPr>
          <p:cNvSpPr>
            <a:spLocks noGrp="1"/>
          </p:cNvSpPr>
          <p:nvPr/>
        </p:nvSpPr>
        <p:spPr>
          <a:xfrm>
            <a:off x="1000125" y="2857500"/>
            <a:ext cx="20955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42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Handoff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BDA7AC8C-BFBC-4931-B1B7-B64CE529682F}"/>
              </a:ext>
            </a:extLst>
          </p:cNvPr>
          <p:cNvSpPr>
            <a:spLocks noGrp="1"/>
          </p:cNvSpPr>
          <p:nvPr/>
        </p:nvSpPr>
        <p:spPr>
          <a:xfrm>
            <a:off x="1000125" y="3143250"/>
            <a:ext cx="44767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o controle muda de dono conforme o contexto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FB1B1500-B70C-4D4A-AF39-0A1E20B1A3BE}"/>
              </a:ext>
            </a:extLst>
          </p:cNvPr>
          <p:cNvSpPr>
            <a:spLocks noGrp="1"/>
          </p:cNvSpPr>
          <p:nvPr/>
        </p:nvSpPr>
        <p:spPr>
          <a:xfrm>
            <a:off x="476250" y="3590925"/>
            <a:ext cx="342900" cy="342900"/>
          </a:xfrm>
          <a:prstGeom prst="rect">
            <a:avLst/>
          </a:prstGeom>
          <a:solidFill>
            <a:srgbClr val="08B8C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C8ADBD38-CE50-47E5-B687-C8611F18E0D2}"/>
              </a:ext>
            </a:extLst>
          </p:cNvPr>
          <p:cNvSpPr>
            <a:spLocks noGrp="1"/>
          </p:cNvSpPr>
          <p:nvPr/>
        </p:nvSpPr>
        <p:spPr>
          <a:xfrm>
            <a:off x="476250" y="3638550"/>
            <a:ext cx="3429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2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9CAEF672-7959-45E5-817E-0FE1D7B96E30}"/>
              </a:ext>
            </a:extLst>
          </p:cNvPr>
          <p:cNvSpPr>
            <a:spLocks noGrp="1"/>
          </p:cNvSpPr>
          <p:nvPr/>
        </p:nvSpPr>
        <p:spPr>
          <a:xfrm>
            <a:off x="1000125" y="3571875"/>
            <a:ext cx="20955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42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Crítico/revisor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FB0C3831-367C-4DF1-83AD-BB04A1093E10}"/>
              </a:ext>
            </a:extLst>
          </p:cNvPr>
          <p:cNvSpPr>
            <a:spLocks noGrp="1"/>
          </p:cNvSpPr>
          <p:nvPr/>
        </p:nvSpPr>
        <p:spPr>
          <a:xfrm>
            <a:off x="1000125" y="3857625"/>
            <a:ext cx="44767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um agente valida risco, qualidade e aderência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80E5BA11-03F7-4FA7-B2CA-38C356D129C7}"/>
              </a:ext>
            </a:extLst>
          </p:cNvPr>
          <p:cNvSpPr>
            <a:spLocks noGrp="1"/>
          </p:cNvSpPr>
          <p:nvPr/>
        </p:nvSpPr>
        <p:spPr>
          <a:xfrm>
            <a:off x="457200" y="4233862"/>
            <a:ext cx="5114109" cy="419100"/>
          </a:xfrm>
          <a:prstGeom prst="rect">
            <a:avLst/>
          </a:prstGeom>
          <a:solidFill>
            <a:srgbClr val="ECECEC"/>
          </a:solidFill>
          <a:ln w="9525">
            <a:solidFill>
              <a:srgbClr val="08B8C8"/>
            </a:solidFill>
            <a:prstDash val="solid"/>
          </a:ln>
        </p:spPr>
        <p:txBody>
          <a:bodyPr lIns="114300" tIns="85725" rIns="114300" bIns="85725" anchor="ctr"/>
          <a:lstStyle/>
          <a:p>
            <a:pPr algn="l">
              <a:defRPr sz="97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O padrão certo depende menos do nome bonito e mais do contrato de responsabilidade.</a:t>
            </a:r>
          </a:p>
        </p:txBody>
      </p:sp>
    </p:spTree>
    <p:extLst>
      <p:ext uri="{BB962C8B-B14F-4D97-AF65-F5344CB8AC3E}">
        <p14:creationId xmlns:p14="http://schemas.microsoft.com/office/powerpoint/2010/main" val="134855286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Image 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E7F203A5-C8EB-4D04-B6BA-63ECCB2C3D8B}"/>
              </a:ext>
            </a:extLst>
          </p:cNvPr>
          <p:cNvSpPr>
            <a:spLocks noGrp="1"/>
          </p:cNvSpPr>
          <p:nvPr/>
        </p:nvSpPr>
        <p:spPr>
          <a:xfrm>
            <a:off x="457200" y="666750"/>
            <a:ext cx="6191250" cy="685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62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62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Cada agente precisa ter uma fronteira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F9BA203-4702-4002-84A8-AEF8138BF1AC}"/>
              </a:ext>
            </a:extLst>
          </p:cNvPr>
          <p:cNvSpPr>
            <a:spLocks noGrp="1"/>
          </p:cNvSpPr>
          <p:nvPr/>
        </p:nvSpPr>
        <p:spPr>
          <a:xfrm>
            <a:off x="457200" y="1371600"/>
            <a:ext cx="800100" cy="66675"/>
          </a:xfrm>
          <a:prstGeom prst="rect">
            <a:avLst/>
          </a:prstGeom>
          <a:solidFill>
            <a:srgbClr val="08B8C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F5227B2-91CF-40AB-8469-27D79B9B0582}"/>
              </a:ext>
            </a:extLst>
          </p:cNvPr>
          <p:cNvSpPr>
            <a:spLocks noGrp="1"/>
          </p:cNvSpPr>
          <p:nvPr/>
        </p:nvSpPr>
        <p:spPr>
          <a:xfrm>
            <a:off x="666750" y="1809750"/>
            <a:ext cx="1619250" cy="1428750"/>
          </a:xfrm>
          <a:prstGeom prst="rect">
            <a:avLst/>
          </a:prstGeom>
          <a:solidFill>
            <a:srgbClr val="000000">
              <a:alpha val="0"/>
            </a:srgbClr>
          </a:solidFill>
          <a:ln w="9525">
            <a:solidFill>
              <a:srgbClr val="111111"/>
            </a:solidFill>
            <a:prstDash val="solid"/>
          </a:ln>
        </p:spPr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787A908-F622-4095-92FE-E8548D348015}"/>
              </a:ext>
            </a:extLst>
          </p:cNvPr>
          <p:cNvSpPr>
            <a:spLocks noGrp="1"/>
          </p:cNvSpPr>
          <p:nvPr/>
        </p:nvSpPr>
        <p:spPr>
          <a:xfrm>
            <a:off x="666750" y="1809750"/>
            <a:ext cx="76200" cy="1428750"/>
          </a:xfrm>
          <a:prstGeom prst="rect">
            <a:avLst/>
          </a:prstGeom>
          <a:solidFill>
            <a:srgbClr val="08B8C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50F709D-56B8-4007-A5D3-4AE5FFA4647E}"/>
              </a:ext>
            </a:extLst>
          </p:cNvPr>
          <p:cNvSpPr>
            <a:spLocks noGrp="1"/>
          </p:cNvSpPr>
          <p:nvPr/>
        </p:nvSpPr>
        <p:spPr>
          <a:xfrm>
            <a:off x="838200" y="1962150"/>
            <a:ext cx="13335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Planner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7B639A2-836E-4EEE-94DD-0057B31E46AE}"/>
              </a:ext>
            </a:extLst>
          </p:cNvPr>
          <p:cNvSpPr>
            <a:spLocks noGrp="1"/>
          </p:cNvSpPr>
          <p:nvPr/>
        </p:nvSpPr>
        <p:spPr>
          <a:xfrm>
            <a:off x="838200" y="2247900"/>
            <a:ext cx="1314450" cy="895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quebra o objetivo em plano executável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00239F96-EE26-4DBF-B6B5-27518024358D}"/>
              </a:ext>
            </a:extLst>
          </p:cNvPr>
          <p:cNvSpPr>
            <a:spLocks noGrp="1"/>
          </p:cNvSpPr>
          <p:nvPr/>
        </p:nvSpPr>
        <p:spPr>
          <a:xfrm>
            <a:off x="2619375" y="1809750"/>
            <a:ext cx="1619250" cy="1428750"/>
          </a:xfrm>
          <a:prstGeom prst="rect">
            <a:avLst/>
          </a:prstGeom>
          <a:solidFill>
            <a:srgbClr val="000000">
              <a:alpha val="0"/>
            </a:srgbClr>
          </a:solidFill>
          <a:ln w="9525">
            <a:solidFill>
              <a:srgbClr val="111111"/>
            </a:solidFill>
            <a:prstDash val="solid"/>
          </a:ln>
        </p:spPr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303D0C1-01A1-49E2-A32E-84A430DFD689}"/>
              </a:ext>
            </a:extLst>
          </p:cNvPr>
          <p:cNvSpPr>
            <a:spLocks noGrp="1"/>
          </p:cNvSpPr>
          <p:nvPr/>
        </p:nvSpPr>
        <p:spPr>
          <a:xfrm>
            <a:off x="2619375" y="1809750"/>
            <a:ext cx="76200" cy="1428750"/>
          </a:xfrm>
          <a:prstGeom prst="rect">
            <a:avLst/>
          </a:prstGeom>
          <a:solidFill>
            <a:srgbClr val="08B8C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0F12E667-84C9-497D-8B95-DD2B99EE9F77}"/>
              </a:ext>
            </a:extLst>
          </p:cNvPr>
          <p:cNvSpPr>
            <a:spLocks noGrp="1"/>
          </p:cNvSpPr>
          <p:nvPr/>
        </p:nvSpPr>
        <p:spPr>
          <a:xfrm>
            <a:off x="2790825" y="1962150"/>
            <a:ext cx="13335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Researcher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308ADAFE-933C-440E-A9A4-AEA95770E405}"/>
              </a:ext>
            </a:extLst>
          </p:cNvPr>
          <p:cNvSpPr>
            <a:spLocks noGrp="1"/>
          </p:cNvSpPr>
          <p:nvPr/>
        </p:nvSpPr>
        <p:spPr>
          <a:xfrm>
            <a:off x="2790825" y="2247900"/>
            <a:ext cx="1314450" cy="895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busca contexto e evidências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66965A9C-2CAE-4710-9B54-FE0193B56FDB}"/>
              </a:ext>
            </a:extLst>
          </p:cNvPr>
          <p:cNvSpPr>
            <a:spLocks noGrp="1"/>
          </p:cNvSpPr>
          <p:nvPr/>
        </p:nvSpPr>
        <p:spPr>
          <a:xfrm>
            <a:off x="4572000" y="1809750"/>
            <a:ext cx="1619250" cy="1428750"/>
          </a:xfrm>
          <a:prstGeom prst="rect">
            <a:avLst/>
          </a:prstGeom>
          <a:solidFill>
            <a:srgbClr val="000000">
              <a:alpha val="0"/>
            </a:srgbClr>
          </a:solidFill>
          <a:ln w="9525">
            <a:solidFill>
              <a:srgbClr val="111111"/>
            </a:solidFill>
            <a:prstDash val="solid"/>
          </a:ln>
        </p:spPr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50CD152D-51C6-4458-8E6D-C92E545DE8BD}"/>
              </a:ext>
            </a:extLst>
          </p:cNvPr>
          <p:cNvSpPr>
            <a:spLocks noGrp="1"/>
          </p:cNvSpPr>
          <p:nvPr/>
        </p:nvSpPr>
        <p:spPr>
          <a:xfrm>
            <a:off x="4572000" y="1809750"/>
            <a:ext cx="76200" cy="1428750"/>
          </a:xfrm>
          <a:prstGeom prst="rect">
            <a:avLst/>
          </a:prstGeom>
          <a:solidFill>
            <a:srgbClr val="08B8C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D6E076F6-9484-4EBA-910B-A4EB2E53E93B}"/>
              </a:ext>
            </a:extLst>
          </p:cNvPr>
          <p:cNvSpPr>
            <a:spLocks noGrp="1"/>
          </p:cNvSpPr>
          <p:nvPr/>
        </p:nvSpPr>
        <p:spPr>
          <a:xfrm>
            <a:off x="4743450" y="1962150"/>
            <a:ext cx="13335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Executor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7A75F4A9-9928-4933-9308-0D8EDF7011CA}"/>
              </a:ext>
            </a:extLst>
          </p:cNvPr>
          <p:cNvSpPr>
            <a:spLocks noGrp="1"/>
          </p:cNvSpPr>
          <p:nvPr/>
        </p:nvSpPr>
        <p:spPr>
          <a:xfrm>
            <a:off x="4743450" y="2247900"/>
            <a:ext cx="1314450" cy="895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chama APIs, funções e ferramentas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10D08CCE-2737-4421-ADA6-3E60A7FF1CF5}"/>
              </a:ext>
            </a:extLst>
          </p:cNvPr>
          <p:cNvSpPr>
            <a:spLocks noGrp="1"/>
          </p:cNvSpPr>
          <p:nvPr/>
        </p:nvSpPr>
        <p:spPr>
          <a:xfrm>
            <a:off x="6524625" y="1809750"/>
            <a:ext cx="1619250" cy="1428750"/>
          </a:xfrm>
          <a:prstGeom prst="rect">
            <a:avLst/>
          </a:prstGeom>
          <a:solidFill>
            <a:srgbClr val="000000">
              <a:alpha val="0"/>
            </a:srgbClr>
          </a:solidFill>
          <a:ln w="9525">
            <a:solidFill>
              <a:srgbClr val="111111"/>
            </a:solidFill>
            <a:prstDash val="solid"/>
          </a:ln>
        </p:spPr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A7C17CC7-E5A6-4CD0-AE17-77E4C46F3C35}"/>
              </a:ext>
            </a:extLst>
          </p:cNvPr>
          <p:cNvSpPr>
            <a:spLocks noGrp="1"/>
          </p:cNvSpPr>
          <p:nvPr/>
        </p:nvSpPr>
        <p:spPr>
          <a:xfrm>
            <a:off x="6524625" y="1809750"/>
            <a:ext cx="76200" cy="1428750"/>
          </a:xfrm>
          <a:prstGeom prst="rect">
            <a:avLst/>
          </a:prstGeom>
          <a:solidFill>
            <a:srgbClr val="111111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C8D223DE-859F-4640-85A6-EA61DCEEE592}"/>
              </a:ext>
            </a:extLst>
          </p:cNvPr>
          <p:cNvSpPr>
            <a:spLocks noGrp="1"/>
          </p:cNvSpPr>
          <p:nvPr/>
        </p:nvSpPr>
        <p:spPr>
          <a:xfrm>
            <a:off x="6696075" y="1962150"/>
            <a:ext cx="13335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Reviewer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87C42FC0-E688-4773-BCCA-02576EC74428}"/>
              </a:ext>
            </a:extLst>
          </p:cNvPr>
          <p:cNvSpPr>
            <a:spLocks noGrp="1"/>
          </p:cNvSpPr>
          <p:nvPr/>
        </p:nvSpPr>
        <p:spPr>
          <a:xfrm>
            <a:off x="6696075" y="2247900"/>
            <a:ext cx="1314450" cy="895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confere qualidade, riscos e próximos passos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8B654891-FF82-45D7-9179-1BE40CC9B3A3}"/>
              </a:ext>
            </a:extLst>
          </p:cNvPr>
          <p:cNvSpPr>
            <a:spLocks noGrp="1"/>
          </p:cNvSpPr>
          <p:nvPr/>
        </p:nvSpPr>
        <p:spPr>
          <a:xfrm>
            <a:off x="876300" y="3857625"/>
            <a:ext cx="6953250" cy="33337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Bom sinal: você consegue trocar um agente sem reescrever a aplicação inteira.</a:t>
            </a:r>
          </a:p>
        </p:txBody>
      </p:sp>
    </p:spTree>
    <p:extLst>
      <p:ext uri="{BB962C8B-B14F-4D97-AF65-F5344CB8AC3E}">
        <p14:creationId xmlns:p14="http://schemas.microsoft.com/office/powerpoint/2010/main" val="61016596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Image 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9988E1B1-76FE-4502-86A6-D2FE6C275695}"/>
              </a:ext>
            </a:extLst>
          </p:cNvPr>
          <p:cNvSpPr>
            <a:spLocks noGrp="1"/>
          </p:cNvSpPr>
          <p:nvPr/>
        </p:nvSpPr>
        <p:spPr>
          <a:xfrm>
            <a:off x="457200" y="419100"/>
            <a:ext cx="40005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75" b="1">
                <a:solidFill>
                  <a:srgbClr val="08B8C8"/>
                </a:solidFill>
                <a:latin typeface="Courier New"/>
                <a:ea typeface="Courier New"/>
                <a:cs typeface="Courier New"/>
              </a:defRPr>
            </a:pPr>
            <a:r>
              <a:rPr sz="675" b="1">
                <a:solidFill>
                  <a:srgbClr val="08B8C8"/>
                </a:solidFill>
                <a:latin typeface="Courier New"/>
                <a:ea typeface="Courier New"/>
                <a:cs typeface="Courier New"/>
              </a:rPr>
              <a:t>/08 DEMO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6FAAF43-71EB-4925-8AE6-C0983CAC4D29}"/>
              </a:ext>
            </a:extLst>
          </p:cNvPr>
          <p:cNvSpPr>
            <a:spLocks noGrp="1"/>
          </p:cNvSpPr>
          <p:nvPr/>
        </p:nvSpPr>
        <p:spPr>
          <a:xfrm>
            <a:off x="457199" y="666750"/>
            <a:ext cx="6459583" cy="685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62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625" b="1" dirty="0">
                <a:solidFill>
                  <a:srgbClr val="111111"/>
                </a:solidFill>
                <a:latin typeface="Arial"/>
                <a:ea typeface="Arial"/>
                <a:cs typeface="Arial"/>
              </a:rPr>
              <a:t>Demo: do </a:t>
            </a:r>
            <a:r>
              <a:rPr sz="2625" b="1" dirty="0" err="1">
                <a:solidFill>
                  <a:srgbClr val="111111"/>
                </a:solidFill>
                <a:latin typeface="Arial"/>
                <a:ea typeface="Arial"/>
                <a:cs typeface="Arial"/>
              </a:rPr>
              <a:t>objetivo</a:t>
            </a:r>
            <a:r>
              <a:rPr sz="2625" b="1" dirty="0">
                <a:solidFill>
                  <a:srgbClr val="111111"/>
                </a:solidFill>
                <a:latin typeface="Arial"/>
                <a:ea typeface="Arial"/>
                <a:cs typeface="Arial"/>
              </a:rPr>
              <a:t> </a:t>
            </a:r>
            <a:r>
              <a:rPr sz="2625" b="1" dirty="0" err="1">
                <a:solidFill>
                  <a:srgbClr val="111111"/>
                </a:solidFill>
                <a:latin typeface="Arial"/>
                <a:ea typeface="Arial"/>
                <a:cs typeface="Arial"/>
              </a:rPr>
              <a:t>ao</a:t>
            </a:r>
            <a:r>
              <a:rPr sz="2625" b="1" dirty="0">
                <a:solidFill>
                  <a:srgbClr val="111111"/>
                </a:solidFill>
                <a:latin typeface="Arial"/>
                <a:ea typeface="Arial"/>
                <a:cs typeface="Arial"/>
              </a:rPr>
              <a:t> plano </a:t>
            </a:r>
            <a:r>
              <a:rPr sz="2625" b="1" dirty="0" err="1">
                <a:solidFill>
                  <a:srgbClr val="111111"/>
                </a:solidFill>
                <a:latin typeface="Arial"/>
                <a:ea typeface="Arial"/>
                <a:cs typeface="Arial"/>
              </a:rPr>
              <a:t>revisado</a:t>
            </a:r>
            <a:endParaRPr sz="2625" b="1" dirty="0">
              <a:solidFill>
                <a:srgbClr val="11111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A48706F-ADC4-4AC4-BA56-820B66076433}"/>
              </a:ext>
            </a:extLst>
          </p:cNvPr>
          <p:cNvSpPr>
            <a:spLocks noGrp="1"/>
          </p:cNvSpPr>
          <p:nvPr/>
        </p:nvSpPr>
        <p:spPr>
          <a:xfrm>
            <a:off x="457200" y="1371600"/>
            <a:ext cx="800100" cy="66675"/>
          </a:xfrm>
          <a:prstGeom prst="rect">
            <a:avLst/>
          </a:prstGeom>
          <a:solidFill>
            <a:srgbClr val="08B8C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BFB24DD-4DD9-4739-8D73-AE0630AAB85B}"/>
              </a:ext>
            </a:extLst>
          </p:cNvPr>
          <p:cNvSpPr>
            <a:spLocks noGrp="1"/>
          </p:cNvSpPr>
          <p:nvPr/>
        </p:nvSpPr>
        <p:spPr>
          <a:xfrm>
            <a:off x="457200" y="1571625"/>
            <a:ext cx="24765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Cenário proposto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617DF89-C18A-4CC7-BBF4-89ABA506C926}"/>
              </a:ext>
            </a:extLst>
          </p:cNvPr>
          <p:cNvSpPr>
            <a:spLocks noGrp="1"/>
          </p:cNvSpPr>
          <p:nvPr/>
        </p:nvSpPr>
        <p:spPr>
          <a:xfrm>
            <a:off x="457200" y="1952625"/>
            <a:ext cx="5334000" cy="8382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Um usuário informa um objetivo. O workflow divide a tarefa, aciona agentes especializados, acompanha eventos em tempo real e entrega um plano final com justificativa e riscos.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36786B9-5C16-459A-AB37-D50ED8207927}"/>
              </a:ext>
            </a:extLst>
          </p:cNvPr>
          <p:cNvSpPr>
            <a:spLocks noGrp="1"/>
          </p:cNvSpPr>
          <p:nvPr/>
        </p:nvSpPr>
        <p:spPr>
          <a:xfrm>
            <a:off x="533400" y="3238500"/>
            <a:ext cx="723900" cy="457200"/>
          </a:xfrm>
          <a:prstGeom prst="rect">
            <a:avLst/>
          </a:prstGeom>
          <a:solidFill>
            <a:srgbClr val="111111"/>
          </a:solidFill>
          <a:ln w="13335">
            <a:solidFill>
              <a:srgbClr val="111111"/>
            </a:solidFill>
            <a:prstDash val="solid"/>
          </a:ln>
        </p:spPr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3DA8EB9-D673-4985-9A7F-808F49FC7D4E}"/>
              </a:ext>
            </a:extLst>
          </p:cNvPr>
          <p:cNvSpPr>
            <a:spLocks noGrp="1"/>
          </p:cNvSpPr>
          <p:nvPr/>
        </p:nvSpPr>
        <p:spPr>
          <a:xfrm>
            <a:off x="609600" y="3298101"/>
            <a:ext cx="5715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8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825" b="1" dirty="0" err="1">
                <a:solidFill>
                  <a:srgbClr val="FFFFFF"/>
                </a:solidFill>
                <a:latin typeface="Arial"/>
                <a:ea typeface="Arial"/>
                <a:cs typeface="Arial"/>
              </a:rPr>
              <a:t>Objetivo</a:t>
            </a:r>
            <a:endParaRPr sz="825" b="1" dirty="0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0C1EA30C-22B4-4327-9EEB-0C5DD570F0F7}"/>
              </a:ext>
            </a:extLst>
          </p:cNvPr>
          <p:cNvSpPr>
            <a:spLocks noGrp="1"/>
          </p:cNvSpPr>
          <p:nvPr/>
        </p:nvSpPr>
        <p:spPr>
          <a:xfrm>
            <a:off x="1257300" y="3457575"/>
            <a:ext cx="152400" cy="28575"/>
          </a:xfrm>
          <a:prstGeom prst="rect">
            <a:avLst/>
          </a:prstGeom>
          <a:solidFill>
            <a:srgbClr val="08B8C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18AAE21-C9DC-4D6A-BB2D-C4BFE88168A3}"/>
              </a:ext>
            </a:extLst>
          </p:cNvPr>
          <p:cNvSpPr>
            <a:spLocks noGrp="1"/>
          </p:cNvSpPr>
          <p:nvPr/>
        </p:nvSpPr>
        <p:spPr>
          <a:xfrm>
            <a:off x="1409700" y="3238500"/>
            <a:ext cx="723900" cy="457200"/>
          </a:xfrm>
          <a:prstGeom prst="rect">
            <a:avLst/>
          </a:prstGeom>
          <a:solidFill>
            <a:srgbClr val="FFFFFF"/>
          </a:solidFill>
          <a:ln w="13335">
            <a:solidFill>
              <a:srgbClr val="111111"/>
            </a:solidFill>
            <a:prstDash val="solid"/>
          </a:ln>
        </p:spPr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207D62A-590B-42A6-9FBF-C116606312DD}"/>
              </a:ext>
            </a:extLst>
          </p:cNvPr>
          <p:cNvSpPr>
            <a:spLocks noGrp="1"/>
          </p:cNvSpPr>
          <p:nvPr/>
        </p:nvSpPr>
        <p:spPr>
          <a:xfrm>
            <a:off x="1485900" y="3298101"/>
            <a:ext cx="5715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82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Plano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A571FE11-815B-4E43-84BF-3C66E74944CB}"/>
              </a:ext>
            </a:extLst>
          </p:cNvPr>
          <p:cNvSpPr>
            <a:spLocks noGrp="1"/>
          </p:cNvSpPr>
          <p:nvPr/>
        </p:nvSpPr>
        <p:spPr>
          <a:xfrm>
            <a:off x="2133600" y="3457575"/>
            <a:ext cx="152400" cy="28575"/>
          </a:xfrm>
          <a:prstGeom prst="rect">
            <a:avLst/>
          </a:prstGeom>
          <a:solidFill>
            <a:srgbClr val="08B8C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E29E0FC1-DB1A-4BC2-BE6E-8A732EE0668D}"/>
              </a:ext>
            </a:extLst>
          </p:cNvPr>
          <p:cNvSpPr>
            <a:spLocks noGrp="1"/>
          </p:cNvSpPr>
          <p:nvPr/>
        </p:nvSpPr>
        <p:spPr>
          <a:xfrm>
            <a:off x="2286000" y="3238500"/>
            <a:ext cx="723900" cy="457200"/>
          </a:xfrm>
          <a:prstGeom prst="rect">
            <a:avLst/>
          </a:prstGeom>
          <a:solidFill>
            <a:srgbClr val="FFFFFF"/>
          </a:solidFill>
          <a:ln w="13335">
            <a:solidFill>
              <a:srgbClr val="111111"/>
            </a:solidFill>
            <a:prstDash val="solid"/>
          </a:ln>
        </p:spPr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991B892-C6F5-4569-BB2E-5A1636E8A1F2}"/>
              </a:ext>
            </a:extLst>
          </p:cNvPr>
          <p:cNvSpPr>
            <a:spLocks noGrp="1"/>
          </p:cNvSpPr>
          <p:nvPr/>
        </p:nvSpPr>
        <p:spPr>
          <a:xfrm>
            <a:off x="2362200" y="3298101"/>
            <a:ext cx="5715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82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Pesquisa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7A3805A6-6ACE-4E50-BA1D-520492CDD72E}"/>
              </a:ext>
            </a:extLst>
          </p:cNvPr>
          <p:cNvSpPr>
            <a:spLocks noGrp="1"/>
          </p:cNvSpPr>
          <p:nvPr/>
        </p:nvSpPr>
        <p:spPr>
          <a:xfrm>
            <a:off x="3009900" y="3457575"/>
            <a:ext cx="152400" cy="28575"/>
          </a:xfrm>
          <a:prstGeom prst="rect">
            <a:avLst/>
          </a:prstGeom>
          <a:solidFill>
            <a:srgbClr val="08B8C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623E322A-4C2C-44B5-9BDD-BD233E4D6B3E}"/>
              </a:ext>
            </a:extLst>
          </p:cNvPr>
          <p:cNvSpPr>
            <a:spLocks noGrp="1"/>
          </p:cNvSpPr>
          <p:nvPr/>
        </p:nvSpPr>
        <p:spPr>
          <a:xfrm>
            <a:off x="3162300" y="3238500"/>
            <a:ext cx="723900" cy="457200"/>
          </a:xfrm>
          <a:prstGeom prst="rect">
            <a:avLst/>
          </a:prstGeom>
          <a:solidFill>
            <a:srgbClr val="FFFFFF"/>
          </a:solidFill>
          <a:ln w="13335">
            <a:solidFill>
              <a:srgbClr val="111111"/>
            </a:solidFill>
            <a:prstDash val="solid"/>
          </a:ln>
        </p:spPr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1E8C83C0-48BC-4EB5-8D23-2282438B0E2F}"/>
              </a:ext>
            </a:extLst>
          </p:cNvPr>
          <p:cNvSpPr>
            <a:spLocks noGrp="1"/>
          </p:cNvSpPr>
          <p:nvPr/>
        </p:nvSpPr>
        <p:spPr>
          <a:xfrm>
            <a:off x="3238500" y="3298101"/>
            <a:ext cx="5715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82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Execução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6CB77C1B-7CBD-4876-830C-6788FA430392}"/>
              </a:ext>
            </a:extLst>
          </p:cNvPr>
          <p:cNvSpPr>
            <a:spLocks noGrp="1"/>
          </p:cNvSpPr>
          <p:nvPr/>
        </p:nvSpPr>
        <p:spPr>
          <a:xfrm>
            <a:off x="3886200" y="3457575"/>
            <a:ext cx="152400" cy="28575"/>
          </a:xfrm>
          <a:prstGeom prst="rect">
            <a:avLst/>
          </a:prstGeom>
          <a:solidFill>
            <a:srgbClr val="08B8C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F515A25F-8A84-4B9A-AE24-BEAE02C63DB3}"/>
              </a:ext>
            </a:extLst>
          </p:cNvPr>
          <p:cNvSpPr>
            <a:spLocks noGrp="1"/>
          </p:cNvSpPr>
          <p:nvPr/>
        </p:nvSpPr>
        <p:spPr>
          <a:xfrm>
            <a:off x="4038600" y="3238500"/>
            <a:ext cx="723900" cy="457200"/>
          </a:xfrm>
          <a:prstGeom prst="rect">
            <a:avLst/>
          </a:prstGeom>
          <a:solidFill>
            <a:srgbClr val="FFFFFF"/>
          </a:solidFill>
          <a:ln w="13335">
            <a:solidFill>
              <a:srgbClr val="111111"/>
            </a:solidFill>
            <a:prstDash val="solid"/>
          </a:ln>
        </p:spPr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5A99CD0A-EC99-432F-8D7D-FC2F86DE9094}"/>
              </a:ext>
            </a:extLst>
          </p:cNvPr>
          <p:cNvSpPr>
            <a:spLocks noGrp="1"/>
          </p:cNvSpPr>
          <p:nvPr/>
        </p:nvSpPr>
        <p:spPr>
          <a:xfrm>
            <a:off x="4114800" y="3298101"/>
            <a:ext cx="5715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82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Revisão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B18A313A-64F9-44D6-A3C6-831A2ED74A65}"/>
              </a:ext>
            </a:extLst>
          </p:cNvPr>
          <p:cNvSpPr>
            <a:spLocks noGrp="1"/>
          </p:cNvSpPr>
          <p:nvPr/>
        </p:nvSpPr>
        <p:spPr>
          <a:xfrm>
            <a:off x="4762500" y="3457575"/>
            <a:ext cx="152400" cy="28575"/>
          </a:xfrm>
          <a:prstGeom prst="rect">
            <a:avLst/>
          </a:prstGeom>
          <a:solidFill>
            <a:srgbClr val="08B8C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21E99DFB-A5A4-4775-A688-70F231DB03F0}"/>
              </a:ext>
            </a:extLst>
          </p:cNvPr>
          <p:cNvSpPr>
            <a:spLocks noGrp="1"/>
          </p:cNvSpPr>
          <p:nvPr/>
        </p:nvSpPr>
        <p:spPr>
          <a:xfrm>
            <a:off x="4914900" y="3238500"/>
            <a:ext cx="723900" cy="457200"/>
          </a:xfrm>
          <a:prstGeom prst="rect">
            <a:avLst/>
          </a:prstGeom>
          <a:solidFill>
            <a:srgbClr val="111111"/>
          </a:solidFill>
          <a:ln w="13335">
            <a:solidFill>
              <a:srgbClr val="111111"/>
            </a:solidFill>
            <a:prstDash val="solid"/>
          </a:ln>
        </p:spPr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39E2F292-7321-43DC-A9FE-8DEFB20381FF}"/>
              </a:ext>
            </a:extLst>
          </p:cNvPr>
          <p:cNvSpPr>
            <a:spLocks noGrp="1"/>
          </p:cNvSpPr>
          <p:nvPr/>
        </p:nvSpPr>
        <p:spPr>
          <a:xfrm>
            <a:off x="4991100" y="3298101"/>
            <a:ext cx="5715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8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Resposta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E0029CBF-0ADB-4935-83EB-CA66C37620D1}"/>
              </a:ext>
            </a:extLst>
          </p:cNvPr>
          <p:cNvSpPr>
            <a:spLocks noGrp="1"/>
          </p:cNvSpPr>
          <p:nvPr/>
        </p:nvSpPr>
        <p:spPr>
          <a:xfrm>
            <a:off x="457200" y="4095750"/>
            <a:ext cx="5429250" cy="438150"/>
          </a:xfrm>
          <a:prstGeom prst="rect">
            <a:avLst/>
          </a:prstGeom>
          <a:solidFill>
            <a:srgbClr val="ECECEC"/>
          </a:solidFill>
          <a:ln w="9525">
            <a:solidFill>
              <a:srgbClr val="08B8C8"/>
            </a:solidFill>
            <a:prstDash val="solid"/>
          </a:ln>
        </p:spPr>
        <p:txBody>
          <a:bodyPr lIns="114300" tIns="85725" rIns="114300" bIns="85725" anchor="ctr"/>
          <a:lstStyle/>
          <a:p>
            <a:pPr algn="l">
              <a:defRPr sz="97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A demo deve vender o raciocínio do fluxo, não só a resposta bonita no fim.</a:t>
            </a:r>
          </a:p>
        </p:txBody>
      </p:sp>
    </p:spTree>
    <p:extLst>
      <p:ext uri="{BB962C8B-B14F-4D97-AF65-F5344CB8AC3E}">
        <p14:creationId xmlns:p14="http://schemas.microsoft.com/office/powerpoint/2010/main" val="134855286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Image 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4B2C17C4-5A16-4E71-A0D2-6092C57E821E}"/>
              </a:ext>
            </a:extLst>
          </p:cNvPr>
          <p:cNvSpPr>
            <a:spLocks noGrp="1"/>
          </p:cNvSpPr>
          <p:nvPr/>
        </p:nvSpPr>
        <p:spPr>
          <a:xfrm>
            <a:off x="457200" y="552450"/>
            <a:ext cx="5619750" cy="685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62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62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Blazor como cockpit do workflow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CFBB6C8-84EC-4136-A6DB-A0AB66892E8F}"/>
              </a:ext>
            </a:extLst>
          </p:cNvPr>
          <p:cNvSpPr>
            <a:spLocks noGrp="1"/>
          </p:cNvSpPr>
          <p:nvPr/>
        </p:nvSpPr>
        <p:spPr>
          <a:xfrm>
            <a:off x="457200" y="1257300"/>
            <a:ext cx="800100" cy="66675"/>
          </a:xfrm>
          <a:prstGeom prst="rect">
            <a:avLst/>
          </a:prstGeom>
          <a:solidFill>
            <a:srgbClr val="08B8C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7C36E84-6E1F-4E2B-9F1F-9CE6962F28F0}"/>
              </a:ext>
            </a:extLst>
          </p:cNvPr>
          <p:cNvSpPr>
            <a:spLocks noGrp="1"/>
          </p:cNvSpPr>
          <p:nvPr/>
        </p:nvSpPr>
        <p:spPr>
          <a:xfrm>
            <a:off x="590550" y="1638300"/>
            <a:ext cx="1285875" cy="666750"/>
          </a:xfrm>
          <a:prstGeom prst="rect">
            <a:avLst/>
          </a:prstGeom>
          <a:solidFill>
            <a:srgbClr val="111111"/>
          </a:solidFill>
          <a:ln w="13335">
            <a:solidFill>
              <a:srgbClr val="111111"/>
            </a:solidFill>
            <a:prstDash val="solid"/>
          </a:ln>
        </p:spPr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6082241-7DFE-4B9F-8B30-84CF3C0218B5}"/>
              </a:ext>
            </a:extLst>
          </p:cNvPr>
          <p:cNvSpPr>
            <a:spLocks noGrp="1"/>
          </p:cNvSpPr>
          <p:nvPr/>
        </p:nvSpPr>
        <p:spPr>
          <a:xfrm>
            <a:off x="666750" y="1724025"/>
            <a:ext cx="1133475" cy="533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9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Blazor UI</a:t>
            </a:r>
          </a:p>
          <a:p>
            <a:pPr algn="ctr">
              <a:defRPr sz="9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stream + estado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C8BF201-2A20-404D-B2DF-73585A39E6F7}"/>
              </a:ext>
            </a:extLst>
          </p:cNvPr>
          <p:cNvSpPr>
            <a:spLocks noGrp="1"/>
          </p:cNvSpPr>
          <p:nvPr/>
        </p:nvSpPr>
        <p:spPr>
          <a:xfrm>
            <a:off x="1876425" y="1962150"/>
            <a:ext cx="457200" cy="28575"/>
          </a:xfrm>
          <a:prstGeom prst="rect">
            <a:avLst/>
          </a:prstGeom>
          <a:solidFill>
            <a:srgbClr val="111111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A7D7A3D6-B550-436C-BB41-4B483E58DF77}"/>
              </a:ext>
            </a:extLst>
          </p:cNvPr>
          <p:cNvSpPr>
            <a:spLocks noGrp="1"/>
          </p:cNvSpPr>
          <p:nvPr/>
        </p:nvSpPr>
        <p:spPr>
          <a:xfrm>
            <a:off x="2333625" y="1638300"/>
            <a:ext cx="1285875" cy="666750"/>
          </a:xfrm>
          <a:prstGeom prst="rect">
            <a:avLst/>
          </a:prstGeom>
          <a:solidFill>
            <a:srgbClr val="08B8C8"/>
          </a:solidFill>
          <a:ln w="13335">
            <a:solidFill>
              <a:srgbClr val="111111"/>
            </a:solidFill>
            <a:prstDash val="solid"/>
          </a:ln>
        </p:spPr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26C35BA3-7ECB-4A22-A79F-DAB34F5A3B7F}"/>
              </a:ext>
            </a:extLst>
          </p:cNvPr>
          <p:cNvSpPr>
            <a:spLocks noGrp="1"/>
          </p:cNvSpPr>
          <p:nvPr/>
        </p:nvSpPr>
        <p:spPr>
          <a:xfrm>
            <a:off x="2409825" y="1724025"/>
            <a:ext cx="1133475" cy="533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9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.NET API</a:t>
            </a:r>
          </a:p>
          <a:p>
            <a:pPr algn="ctr">
              <a:defRPr sz="9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Workflow host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996E9A6-9735-434F-86F1-E4C7B2DEE73F}"/>
              </a:ext>
            </a:extLst>
          </p:cNvPr>
          <p:cNvSpPr>
            <a:spLocks noGrp="1"/>
          </p:cNvSpPr>
          <p:nvPr/>
        </p:nvSpPr>
        <p:spPr>
          <a:xfrm>
            <a:off x="3619500" y="1962150"/>
            <a:ext cx="438150" cy="28575"/>
          </a:xfrm>
          <a:prstGeom prst="rect">
            <a:avLst/>
          </a:prstGeom>
          <a:solidFill>
            <a:srgbClr val="111111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7382C47A-0225-485E-A81B-36B5D6B6B602}"/>
              </a:ext>
            </a:extLst>
          </p:cNvPr>
          <p:cNvSpPr>
            <a:spLocks noGrp="1"/>
          </p:cNvSpPr>
          <p:nvPr/>
        </p:nvSpPr>
        <p:spPr>
          <a:xfrm>
            <a:off x="4057650" y="1638300"/>
            <a:ext cx="1285875" cy="666750"/>
          </a:xfrm>
          <a:prstGeom prst="rect">
            <a:avLst/>
          </a:prstGeom>
          <a:solidFill>
            <a:srgbClr val="FFFFFF"/>
          </a:solidFill>
          <a:ln w="13335">
            <a:solidFill>
              <a:srgbClr val="111111"/>
            </a:solidFill>
            <a:prstDash val="solid"/>
          </a:ln>
        </p:spPr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A622F060-E9A0-4330-BED8-167111375699}"/>
              </a:ext>
            </a:extLst>
          </p:cNvPr>
          <p:cNvSpPr>
            <a:spLocks noGrp="1"/>
          </p:cNvSpPr>
          <p:nvPr/>
        </p:nvSpPr>
        <p:spPr>
          <a:xfrm>
            <a:off x="4133850" y="1724025"/>
            <a:ext cx="1133475" cy="533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97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Agent</a:t>
            </a:r>
          </a:p>
          <a:p>
            <a:pPr algn="ctr">
              <a:defRPr sz="97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Workflow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75AEAA0-9273-4C61-A403-F82AB7738E3E}"/>
              </a:ext>
            </a:extLst>
          </p:cNvPr>
          <p:cNvSpPr>
            <a:spLocks noGrp="1"/>
          </p:cNvSpPr>
          <p:nvPr/>
        </p:nvSpPr>
        <p:spPr>
          <a:xfrm>
            <a:off x="5343525" y="1962150"/>
            <a:ext cx="438150" cy="28575"/>
          </a:xfrm>
          <a:prstGeom prst="rect">
            <a:avLst/>
          </a:prstGeom>
          <a:solidFill>
            <a:srgbClr val="111111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6647AB0-0512-42D5-97D0-E4BA9C594C31}"/>
              </a:ext>
            </a:extLst>
          </p:cNvPr>
          <p:cNvSpPr>
            <a:spLocks noGrp="1"/>
          </p:cNvSpPr>
          <p:nvPr/>
        </p:nvSpPr>
        <p:spPr>
          <a:xfrm>
            <a:off x="5781675" y="1638300"/>
            <a:ext cx="1381125" cy="666750"/>
          </a:xfrm>
          <a:prstGeom prst="rect">
            <a:avLst/>
          </a:prstGeom>
          <a:solidFill>
            <a:srgbClr val="ECECEC"/>
          </a:solidFill>
          <a:ln w="13335">
            <a:solidFill>
              <a:srgbClr val="111111"/>
            </a:solidFill>
            <a:prstDash val="solid"/>
          </a:ln>
        </p:spPr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B37BA5E1-1FC3-4328-8F4D-D7A838794310}"/>
              </a:ext>
            </a:extLst>
          </p:cNvPr>
          <p:cNvSpPr>
            <a:spLocks noGrp="1"/>
          </p:cNvSpPr>
          <p:nvPr/>
        </p:nvSpPr>
        <p:spPr>
          <a:xfrm>
            <a:off x="5857875" y="1724025"/>
            <a:ext cx="1228725" cy="533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97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Azure OpenAI</a:t>
            </a:r>
          </a:p>
          <a:p>
            <a:pPr algn="ctr">
              <a:defRPr sz="97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Foundry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0F8C3AB-06CE-4174-A35B-092ED4309082}"/>
              </a:ext>
            </a:extLst>
          </p:cNvPr>
          <p:cNvSpPr>
            <a:spLocks noGrp="1"/>
          </p:cNvSpPr>
          <p:nvPr/>
        </p:nvSpPr>
        <p:spPr>
          <a:xfrm>
            <a:off x="3143250" y="2952750"/>
            <a:ext cx="990600" cy="457200"/>
          </a:xfrm>
          <a:prstGeom prst="rect">
            <a:avLst/>
          </a:prstGeom>
          <a:solidFill>
            <a:srgbClr val="FFFFFF"/>
          </a:solidFill>
          <a:ln w="13335">
            <a:solidFill>
              <a:srgbClr val="111111"/>
            </a:solidFill>
            <a:prstDash val="solid"/>
          </a:ln>
        </p:spPr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A3DA33E3-426C-4E33-A7BE-DCDDB01CF732}"/>
              </a:ext>
            </a:extLst>
          </p:cNvPr>
          <p:cNvSpPr>
            <a:spLocks noGrp="1"/>
          </p:cNvSpPr>
          <p:nvPr/>
        </p:nvSpPr>
        <p:spPr>
          <a:xfrm>
            <a:off x="2857500" y="2686050"/>
            <a:ext cx="4000500" cy="1000125"/>
          </a:xfrm>
          <a:prstGeom prst="rect">
            <a:avLst/>
          </a:prstGeom>
          <a:solidFill>
            <a:srgbClr val="000000">
              <a:alpha val="0"/>
            </a:srgbClr>
          </a:solidFill>
          <a:ln w="19050">
            <a:solidFill>
              <a:srgbClr val="08B8C8"/>
            </a:solidFill>
            <a:prstDash val="solid"/>
          </a:ln>
        </p:spPr>
        <p:txBody>
          <a:bodyPr/>
          <a:lstStyle/>
          <a:p>
            <a:endParaRPr lang="en-BR" dirty="0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3BDC0C88-9366-4A0A-9E37-A213307091D5}"/>
              </a:ext>
            </a:extLst>
          </p:cNvPr>
          <p:cNvSpPr>
            <a:spLocks noGrp="1"/>
          </p:cNvSpPr>
          <p:nvPr/>
        </p:nvSpPr>
        <p:spPr>
          <a:xfrm>
            <a:off x="3219450" y="3018882"/>
            <a:ext cx="8382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97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975" b="1" dirty="0">
                <a:solidFill>
                  <a:srgbClr val="111111"/>
                </a:solidFill>
                <a:latin typeface="Arial"/>
                <a:ea typeface="Arial"/>
                <a:cs typeface="Arial"/>
              </a:rPr>
              <a:t>Planner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71587728-2F17-4261-8FCB-5172DB165E19}"/>
              </a:ext>
            </a:extLst>
          </p:cNvPr>
          <p:cNvSpPr>
            <a:spLocks noGrp="1"/>
          </p:cNvSpPr>
          <p:nvPr/>
        </p:nvSpPr>
        <p:spPr>
          <a:xfrm>
            <a:off x="4362450" y="2952750"/>
            <a:ext cx="990600" cy="457200"/>
          </a:xfrm>
          <a:prstGeom prst="rect">
            <a:avLst/>
          </a:prstGeom>
          <a:solidFill>
            <a:srgbClr val="FFFFFF"/>
          </a:solidFill>
          <a:ln w="13335">
            <a:solidFill>
              <a:srgbClr val="111111"/>
            </a:solidFill>
            <a:prstDash val="solid"/>
          </a:ln>
        </p:spPr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07EA5FE3-9A14-49D4-A810-C39359A8F686}"/>
              </a:ext>
            </a:extLst>
          </p:cNvPr>
          <p:cNvSpPr>
            <a:spLocks noGrp="1"/>
          </p:cNvSpPr>
          <p:nvPr/>
        </p:nvSpPr>
        <p:spPr>
          <a:xfrm>
            <a:off x="4438650" y="3018882"/>
            <a:ext cx="8382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97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975" b="1" dirty="0">
                <a:solidFill>
                  <a:srgbClr val="111111"/>
                </a:solidFill>
                <a:latin typeface="Arial"/>
                <a:ea typeface="Arial"/>
                <a:cs typeface="Arial"/>
              </a:rPr>
              <a:t>Researcher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E2F8AF1D-2BA6-441F-A72B-749C93E43717}"/>
              </a:ext>
            </a:extLst>
          </p:cNvPr>
          <p:cNvSpPr>
            <a:spLocks noGrp="1"/>
          </p:cNvSpPr>
          <p:nvPr/>
        </p:nvSpPr>
        <p:spPr>
          <a:xfrm>
            <a:off x="5581650" y="2952750"/>
            <a:ext cx="990600" cy="457200"/>
          </a:xfrm>
          <a:prstGeom prst="rect">
            <a:avLst/>
          </a:prstGeom>
          <a:solidFill>
            <a:srgbClr val="FFFFFF"/>
          </a:solidFill>
          <a:ln w="13335">
            <a:solidFill>
              <a:srgbClr val="111111"/>
            </a:solidFill>
            <a:prstDash val="solid"/>
          </a:ln>
        </p:spPr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AC684766-4E6D-4FB8-A93D-1762808272B8}"/>
              </a:ext>
            </a:extLst>
          </p:cNvPr>
          <p:cNvSpPr>
            <a:spLocks noGrp="1"/>
          </p:cNvSpPr>
          <p:nvPr/>
        </p:nvSpPr>
        <p:spPr>
          <a:xfrm>
            <a:off x="5657850" y="3018882"/>
            <a:ext cx="8382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97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975" b="1" dirty="0">
                <a:solidFill>
                  <a:srgbClr val="111111"/>
                </a:solidFill>
                <a:latin typeface="Arial"/>
                <a:ea typeface="Arial"/>
                <a:cs typeface="Arial"/>
              </a:rPr>
              <a:t>Reviewer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1D0E4B1F-7F48-4CB7-B511-DE57B7670BB1}"/>
              </a:ext>
            </a:extLst>
          </p:cNvPr>
          <p:cNvSpPr>
            <a:spLocks noGrp="1"/>
          </p:cNvSpPr>
          <p:nvPr/>
        </p:nvSpPr>
        <p:spPr>
          <a:xfrm>
            <a:off x="4133850" y="3171825"/>
            <a:ext cx="228600" cy="28575"/>
          </a:xfrm>
          <a:prstGeom prst="rect">
            <a:avLst/>
          </a:prstGeom>
          <a:solidFill>
            <a:srgbClr val="08B8C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CE673C2D-DEAB-42EE-B4AA-7FA3EF75A2C4}"/>
              </a:ext>
            </a:extLst>
          </p:cNvPr>
          <p:cNvSpPr>
            <a:spLocks noGrp="1"/>
          </p:cNvSpPr>
          <p:nvPr/>
        </p:nvSpPr>
        <p:spPr>
          <a:xfrm>
            <a:off x="5353050" y="3171825"/>
            <a:ext cx="228600" cy="28575"/>
          </a:xfrm>
          <a:prstGeom prst="rect">
            <a:avLst/>
          </a:prstGeom>
          <a:solidFill>
            <a:srgbClr val="08B8C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60ED0024-B85B-42E1-AF4A-14D1CCE7CE27}"/>
              </a:ext>
            </a:extLst>
          </p:cNvPr>
          <p:cNvSpPr>
            <a:spLocks noGrp="1"/>
          </p:cNvSpPr>
          <p:nvPr/>
        </p:nvSpPr>
        <p:spPr>
          <a:xfrm>
            <a:off x="819150" y="4048125"/>
            <a:ext cx="70485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Ferramentas: APIs, MCP, banco, arquivos, serviços internos</a:t>
            </a:r>
          </a:p>
        </p:txBody>
      </p:sp>
    </p:spTree>
    <p:extLst>
      <p:ext uri="{BB962C8B-B14F-4D97-AF65-F5344CB8AC3E}">
        <p14:creationId xmlns:p14="http://schemas.microsoft.com/office/powerpoint/2010/main" val="61016596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Image 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198F3ECA-1717-4347-B2EE-04BA4DC0BEA4}"/>
              </a:ext>
            </a:extLst>
          </p:cNvPr>
          <p:cNvSpPr>
            <a:spLocks noGrp="1"/>
          </p:cNvSpPr>
          <p:nvPr/>
        </p:nvSpPr>
        <p:spPr>
          <a:xfrm>
            <a:off x="457200" y="666750"/>
            <a:ext cx="5334000" cy="685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62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62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O que separa demo de produto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EBFE37E-2851-4FB8-A528-3E66C6EE061E}"/>
              </a:ext>
            </a:extLst>
          </p:cNvPr>
          <p:cNvSpPr>
            <a:spLocks noGrp="1"/>
          </p:cNvSpPr>
          <p:nvPr/>
        </p:nvSpPr>
        <p:spPr>
          <a:xfrm>
            <a:off x="457200" y="1371600"/>
            <a:ext cx="800100" cy="66675"/>
          </a:xfrm>
          <a:prstGeom prst="rect">
            <a:avLst/>
          </a:prstGeom>
          <a:solidFill>
            <a:srgbClr val="08B8C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0449C99-C1C5-43FB-BA3F-56C789649782}"/>
              </a:ext>
            </a:extLst>
          </p:cNvPr>
          <p:cNvSpPr>
            <a:spLocks noGrp="1"/>
          </p:cNvSpPr>
          <p:nvPr/>
        </p:nvSpPr>
        <p:spPr>
          <a:xfrm>
            <a:off x="590550" y="1762125"/>
            <a:ext cx="2095500" cy="1000125"/>
          </a:xfrm>
          <a:prstGeom prst="rect">
            <a:avLst/>
          </a:prstGeom>
          <a:solidFill>
            <a:srgbClr val="000000">
              <a:alpha val="0"/>
            </a:srgbClr>
          </a:solidFill>
          <a:ln w="9525">
            <a:solidFill>
              <a:srgbClr val="111111"/>
            </a:solidFill>
            <a:prstDash val="solid"/>
          </a:ln>
        </p:spPr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DC846B3-0C05-4E05-B2AC-5BA8729A309D}"/>
              </a:ext>
            </a:extLst>
          </p:cNvPr>
          <p:cNvSpPr>
            <a:spLocks noGrp="1"/>
          </p:cNvSpPr>
          <p:nvPr/>
        </p:nvSpPr>
        <p:spPr>
          <a:xfrm>
            <a:off x="590550" y="1762125"/>
            <a:ext cx="76200" cy="1000125"/>
          </a:xfrm>
          <a:prstGeom prst="rect">
            <a:avLst/>
          </a:prstGeom>
          <a:solidFill>
            <a:srgbClr val="08B8C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C708719-9DD6-4741-8BDF-6FAC90424DF4}"/>
              </a:ext>
            </a:extLst>
          </p:cNvPr>
          <p:cNvSpPr>
            <a:spLocks noGrp="1"/>
          </p:cNvSpPr>
          <p:nvPr/>
        </p:nvSpPr>
        <p:spPr>
          <a:xfrm>
            <a:off x="762000" y="1914525"/>
            <a:ext cx="18097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Estado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939EB19-9715-4198-B7E0-99F6374DE0A4}"/>
              </a:ext>
            </a:extLst>
          </p:cNvPr>
          <p:cNvSpPr>
            <a:spLocks noGrp="1"/>
          </p:cNvSpPr>
          <p:nvPr/>
        </p:nvSpPr>
        <p:spPr>
          <a:xfrm>
            <a:off x="762000" y="2200275"/>
            <a:ext cx="1790700" cy="46672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checkpoint, retomada e idempotência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FE14375-4550-4554-AACC-3F04728BE380}"/>
              </a:ext>
            </a:extLst>
          </p:cNvPr>
          <p:cNvSpPr>
            <a:spLocks noGrp="1"/>
          </p:cNvSpPr>
          <p:nvPr/>
        </p:nvSpPr>
        <p:spPr>
          <a:xfrm>
            <a:off x="3114675" y="1762125"/>
            <a:ext cx="2095500" cy="1000125"/>
          </a:xfrm>
          <a:prstGeom prst="rect">
            <a:avLst/>
          </a:prstGeom>
          <a:solidFill>
            <a:srgbClr val="000000">
              <a:alpha val="0"/>
            </a:srgbClr>
          </a:solidFill>
          <a:ln w="9525">
            <a:solidFill>
              <a:srgbClr val="111111"/>
            </a:solidFill>
            <a:prstDash val="solid"/>
          </a:ln>
        </p:spPr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4C0A993F-AFFF-4633-A8F6-2F8DAD3153E0}"/>
              </a:ext>
            </a:extLst>
          </p:cNvPr>
          <p:cNvSpPr>
            <a:spLocks noGrp="1"/>
          </p:cNvSpPr>
          <p:nvPr/>
        </p:nvSpPr>
        <p:spPr>
          <a:xfrm>
            <a:off x="3114675" y="1762125"/>
            <a:ext cx="76200" cy="1000125"/>
          </a:xfrm>
          <a:prstGeom prst="rect">
            <a:avLst/>
          </a:prstGeom>
          <a:solidFill>
            <a:srgbClr val="08B8C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4FB6CCD-39B8-4A19-972C-F3C1E3BAC0AD}"/>
              </a:ext>
            </a:extLst>
          </p:cNvPr>
          <p:cNvSpPr>
            <a:spLocks noGrp="1"/>
          </p:cNvSpPr>
          <p:nvPr/>
        </p:nvSpPr>
        <p:spPr>
          <a:xfrm>
            <a:off x="3286125" y="1914525"/>
            <a:ext cx="18097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Observabilidade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054A6D45-6E21-42EF-837A-C88601C763A3}"/>
              </a:ext>
            </a:extLst>
          </p:cNvPr>
          <p:cNvSpPr>
            <a:spLocks noGrp="1"/>
          </p:cNvSpPr>
          <p:nvPr/>
        </p:nvSpPr>
        <p:spPr>
          <a:xfrm>
            <a:off x="3286125" y="2200275"/>
            <a:ext cx="1790700" cy="46672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eventos, traces, custo e latência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F06BD08-0827-4FEA-A1DA-40DF266442DA}"/>
              </a:ext>
            </a:extLst>
          </p:cNvPr>
          <p:cNvSpPr>
            <a:spLocks noGrp="1"/>
          </p:cNvSpPr>
          <p:nvPr/>
        </p:nvSpPr>
        <p:spPr>
          <a:xfrm>
            <a:off x="5638800" y="1762125"/>
            <a:ext cx="2095500" cy="1000125"/>
          </a:xfrm>
          <a:prstGeom prst="rect">
            <a:avLst/>
          </a:prstGeom>
          <a:solidFill>
            <a:srgbClr val="000000">
              <a:alpha val="0"/>
            </a:srgbClr>
          </a:solidFill>
          <a:ln w="9525">
            <a:solidFill>
              <a:srgbClr val="111111"/>
            </a:solidFill>
            <a:prstDash val="solid"/>
          </a:ln>
        </p:spPr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5F8BA86F-C51F-46E7-8009-23D36B25CD3C}"/>
              </a:ext>
            </a:extLst>
          </p:cNvPr>
          <p:cNvSpPr>
            <a:spLocks noGrp="1"/>
          </p:cNvSpPr>
          <p:nvPr/>
        </p:nvSpPr>
        <p:spPr>
          <a:xfrm>
            <a:off x="5638800" y="1762125"/>
            <a:ext cx="76200" cy="1000125"/>
          </a:xfrm>
          <a:prstGeom prst="rect">
            <a:avLst/>
          </a:prstGeom>
          <a:solidFill>
            <a:srgbClr val="111111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8E2B648-B47C-44B9-8864-A16A0C111B11}"/>
              </a:ext>
            </a:extLst>
          </p:cNvPr>
          <p:cNvSpPr>
            <a:spLocks noGrp="1"/>
          </p:cNvSpPr>
          <p:nvPr/>
        </p:nvSpPr>
        <p:spPr>
          <a:xfrm>
            <a:off x="5810250" y="1914525"/>
            <a:ext cx="18097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Segurança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ACE8ED4D-72B2-4A3C-83E8-79DE4F3F3022}"/>
              </a:ext>
            </a:extLst>
          </p:cNvPr>
          <p:cNvSpPr>
            <a:spLocks noGrp="1"/>
          </p:cNvSpPr>
          <p:nvPr/>
        </p:nvSpPr>
        <p:spPr>
          <a:xfrm>
            <a:off x="5810250" y="2200275"/>
            <a:ext cx="1790700" cy="46672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escopo de ferramentas e aprovação humana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C1592FD6-6FF3-4143-8040-649AAD6B507E}"/>
              </a:ext>
            </a:extLst>
          </p:cNvPr>
          <p:cNvSpPr>
            <a:spLocks noGrp="1"/>
          </p:cNvSpPr>
          <p:nvPr/>
        </p:nvSpPr>
        <p:spPr>
          <a:xfrm>
            <a:off x="1847850" y="3190875"/>
            <a:ext cx="2095500" cy="1000125"/>
          </a:xfrm>
          <a:prstGeom prst="rect">
            <a:avLst/>
          </a:prstGeom>
          <a:solidFill>
            <a:srgbClr val="000000">
              <a:alpha val="0"/>
            </a:srgbClr>
          </a:solidFill>
          <a:ln w="9525">
            <a:solidFill>
              <a:srgbClr val="111111"/>
            </a:solidFill>
            <a:prstDash val="solid"/>
          </a:ln>
        </p:spPr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196DA220-FEBC-48FE-BE0D-7C4A910C8534}"/>
              </a:ext>
            </a:extLst>
          </p:cNvPr>
          <p:cNvSpPr>
            <a:spLocks noGrp="1"/>
          </p:cNvSpPr>
          <p:nvPr/>
        </p:nvSpPr>
        <p:spPr>
          <a:xfrm>
            <a:off x="1847850" y="3190875"/>
            <a:ext cx="76200" cy="1000125"/>
          </a:xfrm>
          <a:prstGeom prst="rect">
            <a:avLst/>
          </a:prstGeom>
          <a:solidFill>
            <a:srgbClr val="08B8C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92FF2FD6-B149-47A2-85EF-48DA6055BF8B}"/>
              </a:ext>
            </a:extLst>
          </p:cNvPr>
          <p:cNvSpPr>
            <a:spLocks noGrp="1"/>
          </p:cNvSpPr>
          <p:nvPr/>
        </p:nvSpPr>
        <p:spPr>
          <a:xfrm>
            <a:off x="2019300" y="3343275"/>
            <a:ext cx="18097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Avaliação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BA0B85CD-00B3-465C-BF7A-8163C17C11B7}"/>
              </a:ext>
            </a:extLst>
          </p:cNvPr>
          <p:cNvSpPr>
            <a:spLocks noGrp="1"/>
          </p:cNvSpPr>
          <p:nvPr/>
        </p:nvSpPr>
        <p:spPr>
          <a:xfrm>
            <a:off x="2019300" y="3629025"/>
            <a:ext cx="1790700" cy="46672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testes de fluxo, regressão e qualidade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EBAC5602-7846-48F5-9C99-320D48E66AC8}"/>
              </a:ext>
            </a:extLst>
          </p:cNvPr>
          <p:cNvSpPr>
            <a:spLocks noGrp="1"/>
          </p:cNvSpPr>
          <p:nvPr/>
        </p:nvSpPr>
        <p:spPr>
          <a:xfrm>
            <a:off x="4371975" y="3190875"/>
            <a:ext cx="2095500" cy="1000125"/>
          </a:xfrm>
          <a:prstGeom prst="rect">
            <a:avLst/>
          </a:prstGeom>
          <a:solidFill>
            <a:srgbClr val="000000">
              <a:alpha val="0"/>
            </a:srgbClr>
          </a:solidFill>
          <a:ln w="9525">
            <a:solidFill>
              <a:srgbClr val="111111"/>
            </a:solidFill>
            <a:prstDash val="solid"/>
          </a:ln>
        </p:spPr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A12A5531-0FF7-4AF1-B379-797075AFEC70}"/>
              </a:ext>
            </a:extLst>
          </p:cNvPr>
          <p:cNvSpPr>
            <a:spLocks noGrp="1"/>
          </p:cNvSpPr>
          <p:nvPr/>
        </p:nvSpPr>
        <p:spPr>
          <a:xfrm>
            <a:off x="4371975" y="3190875"/>
            <a:ext cx="76200" cy="1000125"/>
          </a:xfrm>
          <a:prstGeom prst="rect">
            <a:avLst/>
          </a:prstGeom>
          <a:solidFill>
            <a:srgbClr val="08B8C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C44A2355-BDC2-476E-8449-4D7A58940C38}"/>
              </a:ext>
            </a:extLst>
          </p:cNvPr>
          <p:cNvSpPr>
            <a:spLocks noGrp="1"/>
          </p:cNvSpPr>
          <p:nvPr/>
        </p:nvSpPr>
        <p:spPr>
          <a:xfrm>
            <a:off x="4543425" y="3343275"/>
            <a:ext cx="18097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UX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2F87D04C-EAF6-4BD3-9917-0FC0660E047B}"/>
              </a:ext>
            </a:extLst>
          </p:cNvPr>
          <p:cNvSpPr>
            <a:spLocks noGrp="1"/>
          </p:cNvSpPr>
          <p:nvPr/>
        </p:nvSpPr>
        <p:spPr>
          <a:xfrm>
            <a:off x="4543425" y="3629025"/>
            <a:ext cx="1790700" cy="46672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progresso claro e intervenção no momento certo</a:t>
            </a:r>
          </a:p>
        </p:txBody>
      </p:sp>
    </p:spTree>
    <p:extLst>
      <p:ext uri="{BB962C8B-B14F-4D97-AF65-F5344CB8AC3E}">
        <p14:creationId xmlns:p14="http://schemas.microsoft.com/office/powerpoint/2010/main" val="61016596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Image 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82880"/>
            <a:ext cx="9144000" cy="5143500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2B160EC2-0497-4D06-93E1-1573696148C4}"/>
              </a:ext>
            </a:extLst>
          </p:cNvPr>
          <p:cNvSpPr>
            <a:spLocks noGrp="1"/>
          </p:cNvSpPr>
          <p:nvPr/>
        </p:nvSpPr>
        <p:spPr>
          <a:xfrm>
            <a:off x="457200" y="666750"/>
            <a:ext cx="5334000" cy="685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62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62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Leve a demo para casa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EECDBAA-F879-4E82-9D86-9BEB14534812}"/>
              </a:ext>
            </a:extLst>
          </p:cNvPr>
          <p:cNvSpPr>
            <a:spLocks noGrp="1"/>
          </p:cNvSpPr>
          <p:nvPr/>
        </p:nvSpPr>
        <p:spPr>
          <a:xfrm>
            <a:off x="457200" y="1371600"/>
            <a:ext cx="800100" cy="66675"/>
          </a:xfrm>
          <a:prstGeom prst="rect">
            <a:avLst/>
          </a:prstGeom>
          <a:solidFill>
            <a:srgbClr val="08B8C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D2D1649-FE35-443D-B68B-98BD30B70849}"/>
              </a:ext>
            </a:extLst>
          </p:cNvPr>
          <p:cNvSpPr>
            <a:spLocks noGrp="1"/>
          </p:cNvSpPr>
          <p:nvPr/>
        </p:nvSpPr>
        <p:spPr>
          <a:xfrm>
            <a:off x="457200" y="1676400"/>
            <a:ext cx="28575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42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Repositório da demo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A2D6956-D173-4DAD-85CA-8159EF17E007}"/>
              </a:ext>
            </a:extLst>
          </p:cNvPr>
          <p:cNvSpPr>
            <a:spLocks noGrp="1"/>
          </p:cNvSpPr>
          <p:nvPr/>
        </p:nvSpPr>
        <p:spPr>
          <a:xfrm>
            <a:off x="457200" y="2057400"/>
            <a:ext cx="7243354" cy="457200"/>
          </a:xfrm>
          <a:prstGeom prst="rect">
            <a:avLst/>
          </a:prstGeom>
          <a:solidFill>
            <a:srgbClr val="111111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33350" tIns="95250" rIns="133350" bIns="76200" anchor="t"/>
          <a:lstStyle/>
          <a:p>
            <a:pPr algn="l">
              <a:defRPr sz="1650" b="1">
                <a:solidFill>
                  <a:srgbClr val="FFFFFF"/>
                </a:solidFill>
                <a:latin typeface="Courier New"/>
                <a:ea typeface="Courier New"/>
                <a:cs typeface="Courier New"/>
              </a:defRPr>
            </a:pPr>
            <a:r>
              <a:rPr sz="1650" b="1" dirty="0" err="1">
                <a:solidFill>
                  <a:srgbClr val="FFFFFF"/>
                </a:solidFill>
                <a:latin typeface="Courier New"/>
                <a:ea typeface="Courier New"/>
                <a:cs typeface="Courier New"/>
              </a:rPr>
              <a:t>github.com</a:t>
            </a:r>
            <a:r>
              <a:rPr sz="1650" b="1" dirty="0">
                <a:solidFill>
                  <a:srgbClr val="FFFFFF"/>
                </a:solidFill>
                <a:latin typeface="Courier New"/>
                <a:ea typeface="Courier New"/>
                <a:cs typeface="Courier New"/>
              </a:rPr>
              <a:t>/</a:t>
            </a:r>
            <a:r>
              <a:rPr lang="pt-BR" sz="1650" b="1" dirty="0" err="1">
                <a:solidFill>
                  <a:srgbClr val="FFFFFF"/>
                </a:solidFill>
                <a:latin typeface="Courier New"/>
                <a:ea typeface="Courier New"/>
                <a:cs typeface="Courier New"/>
              </a:rPr>
              <a:t>gustavobigardi</a:t>
            </a:r>
            <a:r>
              <a:rPr sz="1650" b="1" dirty="0">
                <a:solidFill>
                  <a:srgbClr val="FFFFFF"/>
                </a:solidFill>
                <a:latin typeface="Courier New"/>
                <a:ea typeface="Courier New"/>
                <a:cs typeface="Courier New"/>
              </a:rPr>
              <a:t>/</a:t>
            </a:r>
            <a:r>
              <a:rPr lang="pt-BR" sz="1650" b="1" dirty="0" err="1">
                <a:solidFill>
                  <a:srgbClr val="FFFFFF"/>
                </a:solidFill>
                <a:latin typeface="Courier New"/>
                <a:ea typeface="Courier New"/>
                <a:cs typeface="Courier New"/>
              </a:rPr>
              <a:t>mvpconf</a:t>
            </a:r>
            <a:r>
              <a:rPr lang="pt-BR" sz="1650" b="1" dirty="0">
                <a:solidFill>
                  <a:srgbClr val="FFFFFF"/>
                </a:solidFill>
                <a:latin typeface="Courier New"/>
                <a:ea typeface="Courier New"/>
                <a:cs typeface="Courier New"/>
              </a:rPr>
              <a:t>-</a:t>
            </a:r>
            <a:r>
              <a:rPr lang="pt-BR" sz="1650" b="1" dirty="0" err="1">
                <a:solidFill>
                  <a:srgbClr val="FFFFFF"/>
                </a:solidFill>
                <a:latin typeface="Courier New"/>
                <a:ea typeface="Courier New"/>
                <a:cs typeface="Courier New"/>
              </a:rPr>
              <a:t>blazor</a:t>
            </a:r>
            <a:r>
              <a:rPr lang="pt-BR" sz="1650" b="1" dirty="0">
                <a:solidFill>
                  <a:srgbClr val="FFFFFF"/>
                </a:solidFill>
                <a:latin typeface="Courier New"/>
                <a:ea typeface="Courier New"/>
                <a:cs typeface="Courier New"/>
              </a:rPr>
              <a:t>-</a:t>
            </a:r>
            <a:r>
              <a:rPr lang="pt-BR" sz="1650" b="1" dirty="0" err="1">
                <a:solidFill>
                  <a:srgbClr val="FFFFFF"/>
                </a:solidFill>
                <a:latin typeface="Courier New"/>
                <a:ea typeface="Courier New"/>
                <a:cs typeface="Courier New"/>
              </a:rPr>
              <a:t>agent</a:t>
            </a:r>
            <a:r>
              <a:rPr lang="pt-BR" sz="1650" b="1" dirty="0">
                <a:solidFill>
                  <a:srgbClr val="FFFFFF"/>
                </a:solidFill>
                <a:latin typeface="Courier New"/>
                <a:ea typeface="Courier New"/>
                <a:cs typeface="Courier New"/>
              </a:rPr>
              <a:t>-workflow</a:t>
            </a:r>
            <a:endParaRPr sz="1650" b="1" dirty="0">
              <a:solidFill>
                <a:srgbClr val="FFFFFF"/>
              </a:solidFill>
              <a:latin typeface="Courier New"/>
              <a:ea typeface="Courier New"/>
              <a:cs typeface="Courier New"/>
            </a:endParaRP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176F197F-0A28-C804-2CAE-A6B654A43B7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24200" y="2628900"/>
            <a:ext cx="1905000" cy="1905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4855286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 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DA205912-B1D1-4B0D-9835-E63E7AF70B14}"/>
              </a:ext>
            </a:extLst>
          </p:cNvPr>
          <p:cNvSpPr>
            <a:spLocks noGrp="1"/>
          </p:cNvSpPr>
          <p:nvPr/>
        </p:nvSpPr>
        <p:spPr>
          <a:xfrm>
            <a:off x="2114550" y="2781300"/>
            <a:ext cx="3905250" cy="1123950"/>
          </a:xfrm>
          <a:prstGeom prst="rect">
            <a:avLst/>
          </a:prstGeom>
          <a:solidFill>
            <a:srgbClr val="C7C7C7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99173722-DBCF-40C3-90A2-5EB374FC2E21}"/>
              </a:ext>
            </a:extLst>
          </p:cNvPr>
          <p:cNvSpPr>
            <a:spLocks noGrp="1"/>
          </p:cNvSpPr>
          <p:nvPr/>
        </p:nvSpPr>
        <p:spPr>
          <a:xfrm>
            <a:off x="3333750" y="2895600"/>
            <a:ext cx="21907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87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Perguntas?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7641B29-37C7-4FB5-9552-5476EFC2B3A2}"/>
              </a:ext>
            </a:extLst>
          </p:cNvPr>
          <p:cNvSpPr>
            <a:spLocks noGrp="1"/>
          </p:cNvSpPr>
          <p:nvPr/>
        </p:nvSpPr>
        <p:spPr>
          <a:xfrm>
            <a:off x="3333750" y="3276600"/>
            <a:ext cx="2857500" cy="4762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111111"/>
                </a:solidFill>
                <a:latin typeface="Courier New"/>
                <a:ea typeface="Courier New"/>
                <a:cs typeface="Courier New"/>
              </a:defRPr>
            </a:pPr>
            <a:r>
              <a:rPr sz="975" b="0" dirty="0">
                <a:solidFill>
                  <a:srgbClr val="111111"/>
                </a:solidFill>
                <a:latin typeface="Courier New"/>
                <a:ea typeface="Courier New"/>
                <a:cs typeface="Courier New"/>
              </a:rPr>
              <a:t>Demo e slides</a:t>
            </a:r>
            <a:r>
              <a:rPr lang="pt-BR" sz="975" b="0" dirty="0">
                <a:solidFill>
                  <a:srgbClr val="111111"/>
                </a:solidFill>
                <a:latin typeface="Courier New"/>
                <a:ea typeface="Courier New"/>
                <a:cs typeface="Courier New"/>
              </a:rPr>
              <a:t> no </a:t>
            </a:r>
            <a:r>
              <a:rPr lang="pt-BR" sz="975" b="0" dirty="0" err="1">
                <a:solidFill>
                  <a:srgbClr val="111111"/>
                </a:solidFill>
                <a:latin typeface="Courier New"/>
                <a:ea typeface="Courier New"/>
                <a:cs typeface="Courier New"/>
              </a:rPr>
              <a:t>repositó</a:t>
            </a:r>
            <a:endParaRPr sz="975" b="0" dirty="0">
              <a:solidFill>
                <a:srgbClr val="111111"/>
              </a:solidFill>
              <a:latin typeface="Courier New"/>
              <a:ea typeface="Courier New"/>
              <a:cs typeface="Courier New"/>
            </a:endParaRPr>
          </a:p>
        </p:txBody>
      </p:sp>
    </p:spTree>
    <p:extLst>
      <p:ext uri="{BB962C8B-B14F-4D97-AF65-F5344CB8AC3E}">
        <p14:creationId xmlns:p14="http://schemas.microsoft.com/office/powerpoint/2010/main" val="28074490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14</TotalTime>
  <Words>645</Words>
  <Application>Microsoft Macintosh PowerPoint</Application>
  <DocSecurity>0</DocSecurity>
  <PresentationFormat>On-screen Show (16:9)</PresentationFormat>
  <Paragraphs>127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9" baseType="lpstr">
      <vt:lpstr>Arial</vt:lpstr>
      <vt:lpstr>Calibri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Gustavo Bellini Bigardi</cp:lastModifiedBy>
  <cp:revision>6</cp:revision>
  <dcterms:created xsi:type="dcterms:W3CDTF">2026-06-10T23:29:07Z</dcterms:created>
  <dcterms:modified xsi:type="dcterms:W3CDTF">2026-06-11T00:33:21Z</dcterms:modified>
</cp:coreProperties>
</file>